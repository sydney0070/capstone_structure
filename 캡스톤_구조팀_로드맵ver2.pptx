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61" r:id="rId3"/>
    <p:sldId id="260" r:id="rId4"/>
    <p:sldId id="256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6FF"/>
    <a:srgbClr val="F3BEAD"/>
    <a:srgbClr val="F7E8E8"/>
    <a:srgbClr val="FCFCFC"/>
    <a:srgbClr val="DD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82"/>
    <p:restoredTop sz="94610"/>
  </p:normalViewPr>
  <p:slideViewPr>
    <p:cSldViewPr snapToGrid="0" snapToObjects="1">
      <p:cViewPr>
        <p:scale>
          <a:sx n="97" d="100"/>
          <a:sy n="97" d="100"/>
        </p:scale>
        <p:origin x="132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90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content derived from user-provided project plan and requested roadmap structure.
[/Sources]
Slide covers weeks 3-9.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51B7-03C9-E917-0028-18684C4F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E0306-998C-192C-2F16-066AACC4D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092F8-36A9-7417-A2B6-5C9BA4466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content derived from user-provided project plan and requested roadmap structure.
[/Sources]
Slide covers weeks 3-9.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C4580-2FE0-1ECF-83C7-03224EE817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4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90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5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DE9B5BE-8A5E-EDF3-8D2D-525E54F2FB8A}"/>
              </a:ext>
            </a:extLst>
          </p:cNvPr>
          <p:cNvSpPr/>
          <p:nvPr/>
        </p:nvSpPr>
        <p:spPr>
          <a:xfrm>
            <a:off x="1805940" y="1373385"/>
            <a:ext cx="2638425" cy="3289101"/>
          </a:xfrm>
          <a:prstGeom prst="roundRect">
            <a:avLst>
              <a:gd name="adj" fmla="val 49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12FFDDB-CBC3-D482-ABCA-3B6C5D1678D5}"/>
              </a:ext>
            </a:extLst>
          </p:cNvPr>
          <p:cNvSpPr/>
          <p:nvPr/>
        </p:nvSpPr>
        <p:spPr>
          <a:xfrm>
            <a:off x="1805939" y="1439228"/>
            <a:ext cx="2638425" cy="3223258"/>
          </a:xfrm>
          <a:prstGeom prst="roundRect">
            <a:avLst>
              <a:gd name="adj" fmla="val 4970"/>
            </a:avLst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85" name="Google Shape;85;p13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571500" y="4948237"/>
            <a:ext cx="11049000" cy="152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4698921" y="1373385"/>
            <a:ext cx="2647950" cy="328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7601427" y="1357313"/>
            <a:ext cx="2647950" cy="32891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219575" y="267593"/>
            <a:ext cx="3600450" cy="8616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400" b="1" i="0" u="none" strike="noStrike" cap="none" dirty="0" err="1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OpenSees</a:t>
            </a:r>
            <a:endParaRPr b="1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123950" y="5195887"/>
            <a:ext cx="1076134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Capstone Application: Earth vs Mars</a:t>
            </a:r>
            <a:endParaRPr/>
          </a:p>
        </p:txBody>
      </p:sp>
      <p:pic>
        <p:nvPicPr>
          <p:cNvPr id="92" name="Google Shape;92;p13" descr="image.png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819150" y="52435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2005965" y="1721941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2263140" y="1621035"/>
            <a:ext cx="1010126" cy="3739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Model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Commands</a:t>
            </a:r>
            <a:endParaRPr dirty="0"/>
          </a:p>
        </p:txBody>
      </p:sp>
      <p:sp>
        <p:nvSpPr>
          <p:cNvPr id="103" name="Google Shape;103;p13"/>
          <p:cNvSpPr/>
          <p:nvPr/>
        </p:nvSpPr>
        <p:spPr>
          <a:xfrm>
            <a:off x="2009662" y="2144158"/>
            <a:ext cx="587496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072640" y="2172733"/>
            <a:ext cx="1968414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</a:t>
            </a: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</a:t>
            </a:r>
            <a:endParaRPr dirty="0"/>
          </a:p>
        </p:txBody>
      </p:sp>
      <p:sp>
        <p:nvSpPr>
          <p:cNvPr id="105" name="Google Shape;105;p13"/>
          <p:cNvSpPr/>
          <p:nvPr/>
        </p:nvSpPr>
        <p:spPr>
          <a:xfrm>
            <a:off x="2660136" y="2145303"/>
            <a:ext cx="666750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2726811" y="2173878"/>
            <a:ext cx="600075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ops.element</a:t>
            </a:r>
            <a:endParaRPr dirty="0"/>
          </a:p>
        </p:txBody>
      </p:sp>
      <p:sp>
        <p:nvSpPr>
          <p:cNvPr id="107" name="Google Shape;107;p13"/>
          <p:cNvSpPr/>
          <p:nvPr/>
        </p:nvSpPr>
        <p:spPr>
          <a:xfrm>
            <a:off x="2005965" y="2412002"/>
            <a:ext cx="410217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2072640" y="2447721"/>
            <a:ext cx="428625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ops.f</a:t>
            </a: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ix</a:t>
            </a:r>
            <a:endParaRPr dirty="0"/>
          </a:p>
        </p:txBody>
      </p:sp>
      <p:sp>
        <p:nvSpPr>
          <p:cNvPr id="123" name="Google Shape;123;p13"/>
          <p:cNvSpPr/>
          <p:nvPr/>
        </p:nvSpPr>
        <p:spPr>
          <a:xfrm>
            <a:off x="2864173" y="3170525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2930848" y="3206244"/>
            <a:ext cx="552450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ops.section</a:t>
            </a:r>
            <a:endParaRPr dirty="0"/>
          </a:p>
        </p:txBody>
      </p:sp>
      <p:pic>
        <p:nvPicPr>
          <p:cNvPr id="133" name="Google Shape;133;p13" descr="image.png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4898946" y="1721941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5260896" y="1621035"/>
            <a:ext cx="1010126" cy="411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Commands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4895250" y="2149029"/>
            <a:ext cx="885825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4961925" y="2177604"/>
            <a:ext cx="752475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ops.constraints</a:t>
            </a:r>
            <a:endParaRPr dirty="0"/>
          </a:p>
        </p:txBody>
      </p:sp>
      <p:sp>
        <p:nvSpPr>
          <p:cNvPr id="141" name="Google Shape;141;p13"/>
          <p:cNvSpPr/>
          <p:nvPr/>
        </p:nvSpPr>
        <p:spPr>
          <a:xfrm>
            <a:off x="4898946" y="2432446"/>
            <a:ext cx="819150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4965621" y="2461021"/>
            <a:ext cx="685800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</a:t>
            </a: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ps.integrator</a:t>
            </a:r>
            <a:endParaRPr dirty="0"/>
          </a:p>
        </p:txBody>
      </p:sp>
      <p:sp>
        <p:nvSpPr>
          <p:cNvPr id="143" name="Google Shape;143;p13"/>
          <p:cNvSpPr/>
          <p:nvPr/>
        </p:nvSpPr>
        <p:spPr>
          <a:xfrm>
            <a:off x="6365796" y="2146696"/>
            <a:ext cx="752475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6432471" y="2175271"/>
            <a:ext cx="619125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ops.algorithm</a:t>
            </a:r>
            <a:endParaRPr dirty="0"/>
          </a:p>
        </p:txBody>
      </p:sp>
      <p:sp>
        <p:nvSpPr>
          <p:cNvPr id="145" name="Google Shape;145;p13"/>
          <p:cNvSpPr/>
          <p:nvPr/>
        </p:nvSpPr>
        <p:spPr>
          <a:xfrm>
            <a:off x="5828700" y="2155272"/>
            <a:ext cx="473632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5895374" y="2183847"/>
            <a:ext cx="473631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ops.test</a:t>
            </a:r>
            <a:endParaRPr dirty="0"/>
          </a:p>
        </p:txBody>
      </p:sp>
      <p:sp>
        <p:nvSpPr>
          <p:cNvPr id="147" name="Google Shape;147;p13"/>
          <p:cNvSpPr/>
          <p:nvPr/>
        </p:nvSpPr>
        <p:spPr>
          <a:xfrm>
            <a:off x="5770033" y="2433197"/>
            <a:ext cx="685800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836708" y="2461772"/>
            <a:ext cx="552450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ops.analysis</a:t>
            </a:r>
            <a:endParaRPr dirty="0"/>
          </a:p>
        </p:txBody>
      </p:sp>
      <p:sp>
        <p:nvSpPr>
          <p:cNvPr id="149" name="Google Shape;149;p13"/>
          <p:cNvSpPr/>
          <p:nvPr/>
        </p:nvSpPr>
        <p:spPr>
          <a:xfrm>
            <a:off x="4896047" y="2703264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4962722" y="2731839"/>
            <a:ext cx="600075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</a:t>
            </a: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ps.analyze</a:t>
            </a:r>
            <a:endParaRPr dirty="0"/>
          </a:p>
        </p:txBody>
      </p:sp>
      <p:pic>
        <p:nvPicPr>
          <p:cNvPr id="153" name="Google Shape;153;p13" descr="image.png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7801452" y="1705869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3"/>
          <p:cNvSpPr txBox="1"/>
          <p:nvPr/>
        </p:nvSpPr>
        <p:spPr>
          <a:xfrm>
            <a:off x="8106252" y="1604963"/>
            <a:ext cx="1010126" cy="411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Output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Commands</a:t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7801452" y="2159199"/>
            <a:ext cx="685800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7868127" y="2187774"/>
            <a:ext cx="5524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nodeDisp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8534877" y="2159199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8601552" y="2187774"/>
            <a:ext cx="485775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nodeVel</a:t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9201627" y="2159199"/>
            <a:ext cx="752475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9268302" y="2187774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nodeAccel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7801452" y="2416374"/>
            <a:ext cx="952500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7868127" y="2444949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nodeReaction</a:t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8801577" y="2416374"/>
            <a:ext cx="752475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8868252" y="2444949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reactions</a:t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7801452" y="2673549"/>
            <a:ext cx="685800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7868127" y="2702124"/>
            <a:ext cx="5524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eleForce</a:t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8534877" y="2673549"/>
            <a:ext cx="685800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8601552" y="2702124"/>
            <a:ext cx="5524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recorder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819150" y="5643562"/>
            <a:ext cx="2620327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PHASE 01. MODELING, </a:t>
            </a:r>
            <a:endParaRPr dirty="0"/>
          </a:p>
        </p:txBody>
      </p:sp>
      <p:sp>
        <p:nvSpPr>
          <p:cNvPr id="170" name="Google Shape;170;p13"/>
          <p:cNvSpPr txBox="1"/>
          <p:nvPr/>
        </p:nvSpPr>
        <p:spPr>
          <a:xfrm>
            <a:off x="819150" y="5843587"/>
            <a:ext cx="2495550" cy="439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돔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및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지반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지구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vs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화성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중력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차이</a:t>
            </a:r>
            <a:r>
              <a:rPr lang="en-US" sz="1012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반영한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가상환경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endParaRPr dirty="0"/>
          </a:p>
        </p:txBody>
      </p:sp>
      <p:sp>
        <p:nvSpPr>
          <p:cNvPr id="171" name="Google Shape;171;p13"/>
          <p:cNvSpPr txBox="1"/>
          <p:nvPr/>
        </p:nvSpPr>
        <p:spPr>
          <a:xfrm>
            <a:off x="3505200" y="5643562"/>
            <a:ext cx="2620327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F97316"/>
                </a:solidFill>
                <a:latin typeface="Noto Sans KR"/>
                <a:ea typeface="Noto Sans KR"/>
                <a:cs typeface="Noto Sans KR"/>
                <a:sym typeface="Noto Sans KR"/>
              </a:rPr>
              <a:t>PHASE 02. PRE-PROCESS</a:t>
            </a: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3505200" y="5843587"/>
            <a:ext cx="2495550" cy="385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12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해석 정밀도 확보를 위한 돔 구조물 및 지반 Mesh 최적화</a:t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6191250" y="5643562"/>
            <a:ext cx="2620327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PHASE 03. ANALYSIS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6191250" y="5843587"/>
            <a:ext cx="2495550" cy="4393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Static / Modal / Seismic </a:t>
            </a:r>
            <a:r>
              <a:rPr lang="en-US" sz="1012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정적</a:t>
            </a:r>
            <a:r>
              <a:rPr lang="en-US" altLang="ko-KR" sz="1012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012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동적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해석을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통한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행성별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거동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평가</a:t>
            </a:r>
            <a:endParaRPr dirty="0"/>
          </a:p>
        </p:txBody>
      </p:sp>
      <p:sp>
        <p:nvSpPr>
          <p:cNvPr id="175" name="Google Shape;175;p13"/>
          <p:cNvSpPr txBox="1"/>
          <p:nvPr/>
        </p:nvSpPr>
        <p:spPr>
          <a:xfrm>
            <a:off x="8877300" y="5643562"/>
            <a:ext cx="2620327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PHASE 04. EVALUATION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8877300" y="5843587"/>
            <a:ext cx="2495550" cy="4393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행성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환경에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따른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동적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응답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비교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및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구조적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안정성</a:t>
            </a:r>
            <a:r>
              <a:rPr 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검토</a:t>
            </a:r>
            <a:r>
              <a:rPr lang="en-US" altLang="ko-KR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012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머신러닝</a:t>
            </a:r>
            <a:r>
              <a:rPr lang="ko-KR" altLang="en-US" sz="1012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이용 </a:t>
            </a:r>
            <a:r>
              <a:rPr lang="ko-KR" altLang="en-US" sz="1012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최적 설계 도출</a:t>
            </a:r>
            <a:endParaRPr dirty="0"/>
          </a:p>
        </p:txBody>
      </p:sp>
      <p:sp>
        <p:nvSpPr>
          <p:cNvPr id="180" name="Google Shape;180;p13"/>
          <p:cNvSpPr/>
          <p:nvPr/>
        </p:nvSpPr>
        <p:spPr>
          <a:xfrm>
            <a:off x="2005965" y="2344183"/>
            <a:ext cx="4191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2472690" y="2465675"/>
            <a:ext cx="6191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898946" y="2375296"/>
            <a:ext cx="552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499021" y="2375296"/>
            <a:ext cx="685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6232446" y="2375296"/>
            <a:ext cx="8858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4898946" y="2632471"/>
            <a:ext cx="8191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7801452" y="2359224"/>
            <a:ext cx="685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8534877" y="2359224"/>
            <a:ext cx="6191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9201627" y="2359224"/>
            <a:ext cx="752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7801452" y="2616399"/>
            <a:ext cx="952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8801577" y="2616399"/>
            <a:ext cx="752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7801452" y="2873574"/>
            <a:ext cx="685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8534877" y="2873574"/>
            <a:ext cx="685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A9052C82-160E-F6F0-09C6-0CA615F3DE8D}"/>
              </a:ext>
            </a:extLst>
          </p:cNvPr>
          <p:cNvSpPr/>
          <p:nvPr/>
        </p:nvSpPr>
        <p:spPr>
          <a:xfrm>
            <a:off x="628046" y="1060510"/>
            <a:ext cx="3308985" cy="23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sz="11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프로젝트에</a:t>
            </a:r>
            <a:r>
              <a:rPr lang="en-US" sz="11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</a:t>
            </a:r>
            <a:r>
              <a:rPr lang="en-US" sz="11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커맨드는</a:t>
            </a:r>
            <a:r>
              <a:rPr lang="en-US" sz="11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학습하며</a:t>
            </a:r>
            <a:r>
              <a:rPr lang="en-US" sz="11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구체화</a:t>
            </a:r>
            <a:r>
              <a:rPr lang="en-US" sz="11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1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F27596-DA94-BE70-FB1A-3AB75AE3409A}"/>
              </a:ext>
            </a:extLst>
          </p:cNvPr>
          <p:cNvSpPr/>
          <p:nvPr/>
        </p:nvSpPr>
        <p:spPr>
          <a:xfrm>
            <a:off x="3389863" y="2141856"/>
            <a:ext cx="521101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4;p13">
            <a:extLst>
              <a:ext uri="{FF2B5EF4-FFF2-40B4-BE49-F238E27FC236}">
                <a16:creationId xmlns:a16="http://schemas.microsoft.com/office/drawing/2014/main" id="{9E5BAF86-163D-7A53-3CFF-D3097B64C329}"/>
              </a:ext>
            </a:extLst>
          </p:cNvPr>
          <p:cNvSpPr txBox="1"/>
          <p:nvPr/>
        </p:nvSpPr>
        <p:spPr>
          <a:xfrm>
            <a:off x="3456539" y="2170431"/>
            <a:ext cx="410216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ops.node</a:t>
            </a:r>
            <a:endParaRPr dirty="0"/>
          </a:p>
        </p:txBody>
      </p:sp>
      <p:sp>
        <p:nvSpPr>
          <p:cNvPr id="8" name="Google Shape;109;p13">
            <a:extLst>
              <a:ext uri="{FF2B5EF4-FFF2-40B4-BE49-F238E27FC236}">
                <a16:creationId xmlns:a16="http://schemas.microsoft.com/office/drawing/2014/main" id="{3578CD2A-9E7F-D0A5-F9F5-0E7EFC7655BE}"/>
              </a:ext>
            </a:extLst>
          </p:cNvPr>
          <p:cNvSpPr/>
          <p:nvPr/>
        </p:nvSpPr>
        <p:spPr>
          <a:xfrm>
            <a:off x="3071912" y="2910514"/>
            <a:ext cx="969142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10;p13">
            <a:extLst>
              <a:ext uri="{FF2B5EF4-FFF2-40B4-BE49-F238E27FC236}">
                <a16:creationId xmlns:a16="http://schemas.microsoft.com/office/drawing/2014/main" id="{F25F9D06-4D17-D2DE-D710-15DE2A7A2E61}"/>
              </a:ext>
            </a:extLst>
          </p:cNvPr>
          <p:cNvSpPr txBox="1"/>
          <p:nvPr/>
        </p:nvSpPr>
        <p:spPr>
          <a:xfrm>
            <a:off x="3138588" y="2946233"/>
            <a:ext cx="947172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ops.uniaxialMaterial</a:t>
            </a:r>
            <a:endParaRPr dirty="0"/>
          </a:p>
        </p:txBody>
      </p:sp>
      <p:sp>
        <p:nvSpPr>
          <p:cNvPr id="10" name="Google Shape;109;p13">
            <a:extLst>
              <a:ext uri="{FF2B5EF4-FFF2-40B4-BE49-F238E27FC236}">
                <a16:creationId xmlns:a16="http://schemas.microsoft.com/office/drawing/2014/main" id="{3B206C8B-0B9C-6986-2C0A-B28BA07EB26E}"/>
              </a:ext>
            </a:extLst>
          </p:cNvPr>
          <p:cNvSpPr/>
          <p:nvPr/>
        </p:nvSpPr>
        <p:spPr>
          <a:xfrm>
            <a:off x="2005964" y="3170157"/>
            <a:ext cx="796215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0;p13">
            <a:extLst>
              <a:ext uri="{FF2B5EF4-FFF2-40B4-BE49-F238E27FC236}">
                <a16:creationId xmlns:a16="http://schemas.microsoft.com/office/drawing/2014/main" id="{983E933D-2781-F5DE-EACE-E372AB44200A}"/>
              </a:ext>
            </a:extLst>
          </p:cNvPr>
          <p:cNvSpPr txBox="1"/>
          <p:nvPr/>
        </p:nvSpPr>
        <p:spPr>
          <a:xfrm>
            <a:off x="2072640" y="3205876"/>
            <a:ext cx="947172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ops.nDMaterial</a:t>
            </a:r>
            <a:endParaRPr dirty="0"/>
          </a:p>
        </p:txBody>
      </p:sp>
      <p:sp>
        <p:nvSpPr>
          <p:cNvPr id="18" name="Google Shape;119;p13">
            <a:extLst>
              <a:ext uri="{FF2B5EF4-FFF2-40B4-BE49-F238E27FC236}">
                <a16:creationId xmlns:a16="http://schemas.microsoft.com/office/drawing/2014/main" id="{DB891D5A-1A6C-8517-F6B8-B5EEF659B7B6}"/>
              </a:ext>
            </a:extLst>
          </p:cNvPr>
          <p:cNvSpPr/>
          <p:nvPr/>
        </p:nvSpPr>
        <p:spPr>
          <a:xfrm>
            <a:off x="2005965" y="2918528"/>
            <a:ext cx="1029677" cy="191179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20;p13">
            <a:extLst>
              <a:ext uri="{FF2B5EF4-FFF2-40B4-BE49-F238E27FC236}">
                <a16:creationId xmlns:a16="http://schemas.microsoft.com/office/drawing/2014/main" id="{C14EB407-F3C1-072F-0A0F-F6435F8AFE2E}"/>
              </a:ext>
            </a:extLst>
          </p:cNvPr>
          <p:cNvSpPr txBox="1"/>
          <p:nvPr/>
        </p:nvSpPr>
        <p:spPr>
          <a:xfrm>
            <a:off x="2072641" y="2928733"/>
            <a:ext cx="963002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dirty="0" err="1">
                <a:solidFill>
                  <a:srgbClr val="475569"/>
                </a:solidFill>
                <a:latin typeface="JetBrains Mono"/>
                <a:sym typeface="JetBrains Mono"/>
              </a:rPr>
              <a:t>ops.beamIntegration</a:t>
            </a:r>
            <a:endParaRPr dirty="0"/>
          </a:p>
        </p:txBody>
      </p:sp>
      <p:sp>
        <p:nvSpPr>
          <p:cNvPr id="20" name="Google Shape;121;p13">
            <a:extLst>
              <a:ext uri="{FF2B5EF4-FFF2-40B4-BE49-F238E27FC236}">
                <a16:creationId xmlns:a16="http://schemas.microsoft.com/office/drawing/2014/main" id="{6D46174A-F1D4-D649-0751-6972020022BF}"/>
              </a:ext>
            </a:extLst>
          </p:cNvPr>
          <p:cNvSpPr/>
          <p:nvPr/>
        </p:nvSpPr>
        <p:spPr>
          <a:xfrm>
            <a:off x="2501265" y="2676475"/>
            <a:ext cx="419100" cy="183955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2;p13">
            <a:extLst>
              <a:ext uri="{FF2B5EF4-FFF2-40B4-BE49-F238E27FC236}">
                <a16:creationId xmlns:a16="http://schemas.microsoft.com/office/drawing/2014/main" id="{74479345-0075-9A70-06BC-7B9723788901}"/>
              </a:ext>
            </a:extLst>
          </p:cNvPr>
          <p:cNvSpPr txBox="1"/>
          <p:nvPr/>
        </p:nvSpPr>
        <p:spPr>
          <a:xfrm>
            <a:off x="2567940" y="2679456"/>
            <a:ext cx="2857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mass</a:t>
            </a:r>
            <a:endParaRPr dirty="0"/>
          </a:p>
        </p:txBody>
      </p:sp>
      <p:sp>
        <p:nvSpPr>
          <p:cNvPr id="22" name="Google Shape;123;p13">
            <a:extLst>
              <a:ext uri="{FF2B5EF4-FFF2-40B4-BE49-F238E27FC236}">
                <a16:creationId xmlns:a16="http://schemas.microsoft.com/office/drawing/2014/main" id="{E546E2F3-B616-B4D3-1C9C-B8B2583C32BC}"/>
              </a:ext>
            </a:extLst>
          </p:cNvPr>
          <p:cNvSpPr/>
          <p:nvPr/>
        </p:nvSpPr>
        <p:spPr>
          <a:xfrm>
            <a:off x="2463807" y="2410624"/>
            <a:ext cx="838550" cy="209550"/>
          </a:xfrm>
          <a:prstGeom prst="roundRect">
            <a:avLst>
              <a:gd name="adj" fmla="val 18181"/>
            </a:avLst>
          </a:prstGeom>
          <a:solidFill>
            <a:srgbClr val="F8FAFC">
              <a:alpha val="100000"/>
            </a:srgbClr>
          </a:solidFill>
          <a:ln w="9525" cap="flat" cmpd="sng">
            <a:solidFill>
              <a:srgbClr val="F1F5F9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lvl="0">
              <a:buNone/>
              <a:defRPr/>
            </a:pPr>
            <a:r>
              <a:rPr lang="en-US" altLang="ko-KR" sz="825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</a:t>
            </a:r>
            <a:r>
              <a:rPr lang="en-US" altLang="ko-KR" sz="825" dirty="0" err="1">
                <a:solidFill>
                  <a:srgbClr val="475569"/>
                </a:solidFill>
                <a:effectLst/>
                <a:latin typeface="JetBrains Mono"/>
                <a:ea typeface="JetBrains Mono"/>
                <a:cs typeface="JetBrains Mono"/>
                <a:sym typeface="JetBrains Mono"/>
              </a:rPr>
              <a:t>s.timeSeries</a:t>
            </a:r>
            <a:endParaRPr lang="en-US" altLang="ko-KR" sz="825" dirty="0">
              <a:solidFill>
                <a:srgbClr val="475569"/>
              </a:solidFill>
              <a:effectLst/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" name="Google Shape;121;p13">
            <a:extLst>
              <a:ext uri="{FF2B5EF4-FFF2-40B4-BE49-F238E27FC236}">
                <a16:creationId xmlns:a16="http://schemas.microsoft.com/office/drawing/2014/main" id="{E3F2B138-8159-AEE2-F22E-7CF053CACE16}"/>
              </a:ext>
            </a:extLst>
          </p:cNvPr>
          <p:cNvSpPr/>
          <p:nvPr/>
        </p:nvSpPr>
        <p:spPr>
          <a:xfrm>
            <a:off x="2005965" y="2679846"/>
            <a:ext cx="462119" cy="183955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22;p13">
            <a:extLst>
              <a:ext uri="{FF2B5EF4-FFF2-40B4-BE49-F238E27FC236}">
                <a16:creationId xmlns:a16="http://schemas.microsoft.com/office/drawing/2014/main" id="{B30368AE-1671-EBC3-3F42-D50810611168}"/>
              </a:ext>
            </a:extLst>
          </p:cNvPr>
          <p:cNvSpPr txBox="1"/>
          <p:nvPr/>
        </p:nvSpPr>
        <p:spPr>
          <a:xfrm>
            <a:off x="2072641" y="2682827"/>
            <a:ext cx="459388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endParaRPr dirty="0"/>
          </a:p>
        </p:txBody>
      </p:sp>
      <p:sp>
        <p:nvSpPr>
          <p:cNvPr id="25" name="Google Shape;109;p13">
            <a:extLst>
              <a:ext uri="{FF2B5EF4-FFF2-40B4-BE49-F238E27FC236}">
                <a16:creationId xmlns:a16="http://schemas.microsoft.com/office/drawing/2014/main" id="{233A4CC5-FAC7-4C7A-6060-D6838FA18D15}"/>
              </a:ext>
            </a:extLst>
          </p:cNvPr>
          <p:cNvSpPr/>
          <p:nvPr/>
        </p:nvSpPr>
        <p:spPr>
          <a:xfrm>
            <a:off x="2005965" y="3421503"/>
            <a:ext cx="818509" cy="2095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0;p13">
            <a:extLst>
              <a:ext uri="{FF2B5EF4-FFF2-40B4-BE49-F238E27FC236}">
                <a16:creationId xmlns:a16="http://schemas.microsoft.com/office/drawing/2014/main" id="{1D5F040C-BF6E-ED05-A266-F2D5CA687383}"/>
              </a:ext>
            </a:extLst>
          </p:cNvPr>
          <p:cNvSpPr txBox="1"/>
          <p:nvPr/>
        </p:nvSpPr>
        <p:spPr>
          <a:xfrm>
            <a:off x="2072641" y="3457222"/>
            <a:ext cx="723734" cy="126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25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ops.g</a:t>
            </a:r>
            <a:r>
              <a:rPr lang="en-US" sz="825" b="0" i="0" u="none" strike="noStrike" cap="none" dirty="0" err="1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eomTransf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246888"/>
            <a:ext cx="78638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sz="2100" b="1">
                <a:solidFill>
                  <a:srgbClr val="1C2738"/>
                </a:solidFill>
                <a:latin typeface="Malgun Gothic"/>
              </a:rPr>
              <a:t>구조물–지반 통합 모델의 기본 구성요소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2232" y="1303020"/>
            <a:ext cx="3858768" cy="4251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apezoid 7"/>
          <p:cNvSpPr/>
          <p:nvPr/>
        </p:nvSpPr>
        <p:spPr>
          <a:xfrm>
            <a:off x="4572001" y="3923201"/>
            <a:ext cx="3017520" cy="676656"/>
          </a:xfrm>
          <a:prstGeom prst="trapezoid">
            <a:avLst/>
          </a:prstGeom>
          <a:solidFill>
            <a:srgbClr val="E2D6BE"/>
          </a:solidFill>
          <a:ln w="13970">
            <a:solidFill>
              <a:srgbClr val="A18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880" b="1">
                <a:solidFill>
                  <a:srgbClr val="5C492C"/>
                </a:solidFill>
                <a:latin typeface="Malgun Gothic"/>
              </a:rPr>
              <a:t>지반 영역
soil / regolith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0057" y="3584873"/>
            <a:ext cx="2121408" cy="228600"/>
          </a:xfrm>
          <a:prstGeom prst="roundRect">
            <a:avLst/>
          </a:prstGeom>
          <a:solidFill>
            <a:srgbClr val="667085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770" b="1">
                <a:solidFill>
                  <a:srgbClr val="FFFFFF"/>
                </a:solidFill>
                <a:latin typeface="Malgun Gothic"/>
              </a:rPr>
              <a:t>기초부 / 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4377" y="2780201"/>
            <a:ext cx="73152" cy="8046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24729" y="2780201"/>
            <a:ext cx="73152" cy="8046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1" y="2780201"/>
            <a:ext cx="73152" cy="8046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85433" y="2780201"/>
            <a:ext cx="73152" cy="8046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93793" y="3182537"/>
            <a:ext cx="1773936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321809" y="3813473"/>
            <a:ext cx="4572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276089" y="3868337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76089" y="3923201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276089" y="3978065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76089" y="4032929"/>
            <a:ext cx="4572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34457" y="3813473"/>
            <a:ext cx="4572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888737" y="3868337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88737" y="3923201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888737" y="3978065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88737" y="4032929"/>
            <a:ext cx="4572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47105" y="3813473"/>
            <a:ext cx="4572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501385" y="3868337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01385" y="3923201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501385" y="3978065"/>
            <a:ext cx="9144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01385" y="4032929"/>
            <a:ext cx="45720" cy="54864"/>
          </a:xfrm>
          <a:prstGeom prst="line">
            <a:avLst/>
          </a:prstGeom>
          <a:ln w="12700">
            <a:solidFill>
              <a:srgbClr val="64748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727449" y="4673009"/>
            <a:ext cx="2706624" cy="384048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819" b="1">
                <a:solidFill>
                  <a:srgbClr val="323840"/>
                </a:solidFill>
                <a:latin typeface="Malgun Gothic"/>
              </a:rPr>
              <a:t>동일한 구조물 + 행성별 환경변수만 교체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3" y="1709927"/>
            <a:ext cx="3218687" cy="56692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/>
            <a:r>
              <a:rPr sz="1320" b="1">
                <a:solidFill>
                  <a:srgbClr val="0F172A"/>
                </a:solidFill>
                <a:latin typeface="Malgun Gothic"/>
              </a:rPr>
              <a:t>공통 해석 단위
Structure + Foundation + Soil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5" y="2276855"/>
            <a:ext cx="3072384" cy="256032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algun Gothic"/>
              </a:rPr>
              <a:t>node · element · material · boundary · load · recorder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1234440"/>
            <a:ext cx="3035808" cy="2001412"/>
          </a:xfrm>
          <a:prstGeom prst="roundRect">
            <a:avLst>
              <a:gd name="adj" fmla="val 10823"/>
            </a:avLst>
          </a:prstGeom>
          <a:solidFill>
            <a:srgbClr val="EFF6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60762" y="1327579"/>
            <a:ext cx="310896" cy="31089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850" y="1331192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2563EB"/>
                </a:solidFill>
                <a:latin typeface="Malgun Gothic"/>
              </a:rPr>
              <a:t>상부 </a:t>
            </a:r>
            <a:r>
              <a:rPr sz="1200" b="1" dirty="0" err="1">
                <a:solidFill>
                  <a:srgbClr val="2563EB"/>
                </a:solidFill>
                <a:latin typeface="Malgun Gothic"/>
              </a:rPr>
              <a:t>구조물</a:t>
            </a:r>
            <a:endParaRPr sz="1200" b="1" dirty="0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6071" y="1664418"/>
            <a:ext cx="2803811" cy="572464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골격 부재와 바닥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슬래브를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중심으로 하중을 지지하고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구조물의 자중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사용하중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동적응답을 기초로 전달하는 주 구조 시스템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2054" y="3382447"/>
            <a:ext cx="3063240" cy="1907227"/>
          </a:xfrm>
          <a:prstGeom prst="roundRect">
            <a:avLst>
              <a:gd name="adj" fmla="val 11607"/>
            </a:avLst>
          </a:prstGeom>
          <a:solidFill>
            <a:srgbClr val="F0FDF4"/>
          </a:solidFill>
          <a:ln w="203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48640" y="3488076"/>
            <a:ext cx="310896" cy="31089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Malgun Gothic"/>
              </a:rPr>
              <a:t>2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12911" y="3492603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sz="1200" b="1" dirty="0" err="1">
                <a:solidFill>
                  <a:srgbClr val="16A34A"/>
                </a:solidFill>
                <a:latin typeface="Malgun Gothic"/>
              </a:rPr>
              <a:t>기초</a:t>
            </a:r>
            <a:r>
              <a:rPr lang="ko-KR" altLang="en-US" sz="1200" b="1" dirty="0">
                <a:solidFill>
                  <a:srgbClr val="16A34A"/>
                </a:solidFill>
                <a:latin typeface="Malgun Gothic"/>
              </a:rPr>
              <a:t> 구조체</a:t>
            </a:r>
            <a:endParaRPr sz="1200" b="1" dirty="0">
              <a:solidFill>
                <a:srgbClr val="16A34A"/>
              </a:solidFill>
              <a:latin typeface="Malgun Gothic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8358" y="3836707"/>
            <a:ext cx="2734056" cy="526298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900" dirty="0"/>
              <a:t>상부 구조물의 하중을 지반으로 분산</a:t>
            </a:r>
            <a:r>
              <a:rPr lang="en-US" altLang="ko-KR" sz="900" dirty="0"/>
              <a:t>·</a:t>
            </a:r>
            <a:r>
              <a:rPr lang="ko-KR" altLang="en-US" sz="900" dirty="0"/>
              <a:t>전달하는 하부 구조 시스템</a:t>
            </a:r>
            <a:r>
              <a:rPr lang="en-US" altLang="ko-KR" sz="900" dirty="0"/>
              <a:t>. </a:t>
            </a:r>
            <a:r>
              <a:rPr lang="ko-KR" altLang="en-US" sz="900" dirty="0" err="1"/>
              <a:t>기초판</a:t>
            </a:r>
            <a:r>
              <a:rPr lang="en-US" altLang="ko-KR" sz="900" dirty="0"/>
              <a:t>, </a:t>
            </a:r>
            <a:r>
              <a:rPr lang="ko-KR" altLang="en-US" sz="900" dirty="0"/>
              <a:t>링 기초</a:t>
            </a:r>
            <a:r>
              <a:rPr lang="en-US" altLang="ko-KR" sz="900" dirty="0"/>
              <a:t>, </a:t>
            </a:r>
            <a:r>
              <a:rPr lang="ko-KR" altLang="en-US" sz="900" dirty="0"/>
              <a:t>독립기초</a:t>
            </a:r>
            <a:r>
              <a:rPr lang="en-US" altLang="ko-KR" sz="900" dirty="0"/>
              <a:t>, </a:t>
            </a:r>
            <a:r>
              <a:rPr lang="ko-KR" altLang="en-US" sz="900" dirty="0"/>
              <a:t>앵커</a:t>
            </a:r>
            <a:r>
              <a:rPr lang="en-US" altLang="ko-KR" sz="900" dirty="0"/>
              <a:t>, </a:t>
            </a:r>
            <a:r>
              <a:rPr lang="ko-KR" altLang="en-US" sz="900" dirty="0" err="1"/>
              <a:t>매립부</a:t>
            </a:r>
            <a:r>
              <a:rPr lang="ko-KR" altLang="en-US" sz="900" dirty="0"/>
              <a:t> 등으로 구성</a:t>
            </a:r>
            <a:endParaRPr sz="90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27906" y="5580923"/>
            <a:ext cx="7573093" cy="989786"/>
          </a:xfrm>
          <a:prstGeom prst="roundRect">
            <a:avLst/>
          </a:prstGeom>
          <a:solidFill>
            <a:srgbClr val="FFFBEB"/>
          </a:solidFill>
          <a:ln w="203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56508" y="5699529"/>
            <a:ext cx="310896" cy="310896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Malgun Gothic"/>
              </a:rPr>
              <a:t>3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20194" y="5713519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sz="1200" b="1" dirty="0" err="1">
                <a:solidFill>
                  <a:srgbClr val="D97706"/>
                </a:solidFill>
                <a:latin typeface="Malgun Gothic"/>
              </a:rPr>
              <a:t>지반</a:t>
            </a:r>
            <a:r>
              <a:rPr lang="ko-KR" altLang="en-US" sz="1200" b="1" dirty="0">
                <a:solidFill>
                  <a:srgbClr val="D97706"/>
                </a:solidFill>
                <a:latin typeface="Malgun Gothic"/>
              </a:rPr>
              <a:t>형상</a:t>
            </a:r>
            <a:endParaRPr sz="1200" b="1" dirty="0">
              <a:solidFill>
                <a:srgbClr val="D97706"/>
              </a:solidFill>
              <a:latin typeface="Malgun Gothic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52307" y="6048756"/>
            <a:ext cx="2423160" cy="418576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1000" dirty="0"/>
              <a:t>구조물이 놓이는 지반 영역의 폭</a:t>
            </a:r>
            <a:r>
              <a:rPr lang="en-US" altLang="ko-KR" sz="1000" dirty="0"/>
              <a:t>, </a:t>
            </a:r>
            <a:r>
              <a:rPr lang="ko-KR" altLang="en-US" sz="1000" dirty="0"/>
              <a:t>깊이</a:t>
            </a:r>
            <a:endParaRPr lang="en-US" altLang="ko-KR" sz="1000" dirty="0"/>
          </a:p>
          <a:p>
            <a:r>
              <a:rPr lang="ko-KR" altLang="en-US" sz="1000" dirty="0"/>
              <a:t>지표면</a:t>
            </a:r>
            <a:r>
              <a:rPr lang="en-US" altLang="ko-KR" sz="1000" dirty="0"/>
              <a:t>, </a:t>
            </a:r>
            <a:r>
              <a:rPr lang="ko-KR" altLang="en-US" sz="1000" dirty="0"/>
              <a:t>측면</a:t>
            </a:r>
            <a:r>
              <a:rPr lang="en-US" altLang="ko-KR" sz="1000" dirty="0"/>
              <a:t>·</a:t>
            </a:r>
            <a:r>
              <a:rPr lang="ko-KR" altLang="en-US" sz="1000" dirty="0"/>
              <a:t>하부 경계를 정의</a:t>
            </a:r>
            <a:endParaRPr sz="94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430768" y="598867"/>
            <a:ext cx="3063240" cy="2056276"/>
          </a:xfrm>
          <a:prstGeom prst="roundRect">
            <a:avLst>
              <a:gd name="adj" fmla="val 10823"/>
            </a:avLst>
          </a:prstGeom>
          <a:solidFill>
            <a:srgbClr val="FAF5FF"/>
          </a:solidFill>
          <a:ln w="2032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542195" y="701280"/>
            <a:ext cx="310896" cy="310896"/>
          </a:xfrm>
          <a:prstGeom prst="ellipse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Malgun Gothic"/>
              </a:rPr>
              <a:t>4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853091" y="713883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7E22CE"/>
                </a:solidFill>
                <a:latin typeface="Malgun Gothic"/>
              </a:rPr>
              <a:t>구조물 경계조건</a:t>
            </a:r>
            <a:endParaRPr sz="1200" b="1" dirty="0">
              <a:solidFill>
                <a:srgbClr val="7E22CE"/>
              </a:solidFill>
              <a:latin typeface="Malgun Gothic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484965" y="1048752"/>
            <a:ext cx="2968403" cy="572464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1000" dirty="0"/>
              <a:t>구조물 하부</a:t>
            </a:r>
            <a:r>
              <a:rPr lang="en-US" altLang="ko-KR" sz="1000" dirty="0"/>
              <a:t>, </a:t>
            </a:r>
            <a:r>
              <a:rPr lang="ko-KR" altLang="en-US" sz="1000" dirty="0"/>
              <a:t>층간</a:t>
            </a:r>
            <a:r>
              <a:rPr lang="en-US" altLang="ko-KR" sz="1000" dirty="0"/>
              <a:t>, </a:t>
            </a:r>
            <a:r>
              <a:rPr lang="ko-KR" altLang="en-US" sz="1000" dirty="0"/>
              <a:t>기초 연결부의 구속 조건 정의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ko-KR" altLang="en-US" sz="1000" dirty="0"/>
              <a:t>고정</a:t>
            </a:r>
            <a:r>
              <a:rPr lang="en-US" altLang="ko-KR" sz="1000" dirty="0"/>
              <a:t>, </a:t>
            </a:r>
            <a:r>
              <a:rPr lang="ko-KR" altLang="en-US" sz="1000" dirty="0"/>
              <a:t>핀</a:t>
            </a:r>
            <a:r>
              <a:rPr lang="en-US" altLang="ko-KR" sz="1000" dirty="0"/>
              <a:t>, </a:t>
            </a:r>
            <a:r>
              <a:rPr lang="ko-KR" altLang="en-US" sz="1000" dirty="0"/>
              <a:t>스프링</a:t>
            </a:r>
            <a:r>
              <a:rPr lang="en-US" altLang="ko-KR" sz="1000" dirty="0"/>
              <a:t>, </a:t>
            </a:r>
            <a:r>
              <a:rPr lang="en" altLang="ko-KR" sz="1000" dirty="0"/>
              <a:t>rigid diaphragm </a:t>
            </a:r>
            <a:r>
              <a:rPr lang="ko-KR" altLang="en-US" sz="1000" dirty="0"/>
              <a:t>등을 통해 구조물의 지지 방식과 변형 자유도를 설정</a:t>
            </a:r>
            <a:endParaRPr sz="94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430768" y="3048334"/>
            <a:ext cx="3063240" cy="1601517"/>
          </a:xfrm>
          <a:prstGeom prst="roundRect">
            <a:avLst>
              <a:gd name="adj" fmla="val 13347"/>
            </a:avLst>
          </a:prstGeom>
          <a:solidFill>
            <a:srgbClr val="FFF1F2"/>
          </a:solidFill>
          <a:ln w="2032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558784" y="3148919"/>
            <a:ext cx="310896" cy="303181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Malgun Gothic"/>
              </a:rPr>
              <a:t>5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933688" y="3156634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E11D48"/>
                </a:solidFill>
                <a:latin typeface="Malgun Gothic"/>
              </a:rPr>
              <a:t>공통</a:t>
            </a:r>
            <a:r>
              <a:rPr sz="1200" b="1" dirty="0" err="1">
                <a:solidFill>
                  <a:srgbClr val="E11D48"/>
                </a:solidFill>
                <a:latin typeface="Malgun Gothic"/>
              </a:rPr>
              <a:t>하중</a:t>
            </a:r>
            <a:endParaRPr sz="1200" b="1" dirty="0">
              <a:solidFill>
                <a:srgbClr val="E11D48"/>
              </a:solidFill>
              <a:latin typeface="Malgun Gothic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595360" y="3488676"/>
            <a:ext cx="2734056" cy="418576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1000" dirty="0"/>
              <a:t>동일한 구조 시스템에 기본 하중 조건을 적용하여 행성별 응답 비교의 기준</a:t>
            </a:r>
            <a:endParaRPr sz="94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8430768" y="4837176"/>
            <a:ext cx="3063240" cy="1408416"/>
          </a:xfrm>
          <a:prstGeom prst="roundRect">
            <a:avLst/>
          </a:prstGeom>
          <a:solidFill>
            <a:srgbClr val="F8FAFC"/>
          </a:solidFill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567927" y="4930045"/>
            <a:ext cx="310896" cy="310896"/>
          </a:xfrm>
          <a:prstGeom prst="ellipse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Malgun Gothic"/>
              </a:rPr>
              <a:t>6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933688" y="4945475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Malgun Gothic"/>
              </a:rPr>
              <a:t>출력응답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0" y="5330952"/>
            <a:ext cx="2734056" cy="803297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900" dirty="0"/>
              <a:t>최대 변위</a:t>
            </a:r>
            <a:r>
              <a:rPr lang="en-US" altLang="ko-KR" sz="900" dirty="0"/>
              <a:t>, </a:t>
            </a:r>
            <a:r>
              <a:rPr lang="ko-KR" altLang="en-US" sz="900" dirty="0"/>
              <a:t>기초 침하</a:t>
            </a:r>
            <a:r>
              <a:rPr lang="en-US" altLang="ko-KR" sz="900" dirty="0"/>
              <a:t>, </a:t>
            </a:r>
            <a:r>
              <a:rPr lang="ko-KR" altLang="en-US" sz="900" dirty="0"/>
              <a:t>반력</a:t>
            </a:r>
            <a:r>
              <a:rPr lang="en-US" altLang="ko-KR" sz="900" dirty="0"/>
              <a:t>, </a:t>
            </a:r>
            <a:r>
              <a:rPr lang="ko-KR" altLang="en-US" sz="900" dirty="0" err="1"/>
              <a:t>부재력</a:t>
            </a:r>
            <a:r>
              <a:rPr lang="en-US" altLang="ko-KR" sz="900" dirty="0"/>
              <a:t>, </a:t>
            </a:r>
            <a:r>
              <a:rPr lang="ko-KR" altLang="en-US" sz="900" dirty="0"/>
              <a:t>응력</a:t>
            </a:r>
            <a:r>
              <a:rPr lang="en-US" altLang="ko-KR" sz="900" dirty="0"/>
              <a:t>, </a:t>
            </a:r>
            <a:r>
              <a:rPr lang="ko-KR" altLang="en-US" sz="900" dirty="0"/>
              <a:t>고유진동수</a:t>
            </a:r>
            <a:r>
              <a:rPr lang="en-US" altLang="ko-KR" sz="900" dirty="0"/>
              <a:t>, </a:t>
            </a:r>
            <a:r>
              <a:rPr lang="ko-KR" altLang="en-US" sz="900" dirty="0"/>
              <a:t>가속도 응답 출력</a:t>
            </a:r>
            <a:endParaRPr lang="en-US" altLang="ko-KR" sz="900" dirty="0"/>
          </a:p>
          <a:p>
            <a:endParaRPr lang="en-US" altLang="ko-KR" sz="900" dirty="0"/>
          </a:p>
          <a:p>
            <a:r>
              <a:rPr lang="ko-KR" altLang="en-US" sz="900" dirty="0"/>
              <a:t>구조 안정성</a:t>
            </a:r>
            <a:r>
              <a:rPr lang="en-US" altLang="ko-KR" sz="900" dirty="0"/>
              <a:t>, </a:t>
            </a:r>
            <a:r>
              <a:rPr lang="ko-KR" altLang="en-US" sz="900" dirty="0"/>
              <a:t>지반</a:t>
            </a:r>
            <a:r>
              <a:rPr lang="en-US" altLang="ko-KR" sz="900" dirty="0"/>
              <a:t>-</a:t>
            </a:r>
            <a:r>
              <a:rPr lang="ko-KR" altLang="en-US" sz="900" dirty="0"/>
              <a:t>구조물 상호작용</a:t>
            </a:r>
            <a:r>
              <a:rPr lang="en-US" altLang="ko-KR" sz="900" dirty="0"/>
              <a:t>, </a:t>
            </a:r>
            <a:r>
              <a:rPr lang="ko-KR" altLang="en-US" sz="900" dirty="0"/>
              <a:t>재료 사용량 최적화 가능성을 평가하는 기준으로 사용</a:t>
            </a:r>
            <a:endParaRPr sz="900" b="0" dirty="0">
              <a:solidFill>
                <a:srgbClr val="30363E"/>
              </a:solidFill>
              <a:latin typeface="Malgun Gothic"/>
            </a:endParaRPr>
          </a:p>
        </p:txBody>
      </p:sp>
      <p:cxnSp>
        <p:nvCxnSpPr>
          <p:cNvPr id="63" name="Connector 62"/>
          <p:cNvCxnSpPr>
            <a:cxnSpLocks/>
          </p:cNvCxnSpPr>
          <p:nvPr/>
        </p:nvCxnSpPr>
        <p:spPr>
          <a:xfrm flipH="1" flipV="1">
            <a:off x="3474720" y="1773936"/>
            <a:ext cx="1801369" cy="1266444"/>
          </a:xfrm>
          <a:prstGeom prst="line">
            <a:avLst/>
          </a:prstGeom>
          <a:ln w="15875">
            <a:solidFill>
              <a:srgbClr val="8C96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>
            <a:cxnSpLocks/>
            <a:stCxn id="9" idx="1"/>
            <a:endCxn id="43" idx="3"/>
          </p:cNvCxnSpPr>
          <p:nvPr/>
        </p:nvCxnSpPr>
        <p:spPr>
          <a:xfrm flipH="1">
            <a:off x="3495294" y="3699173"/>
            <a:ext cx="1524763" cy="636888"/>
          </a:xfrm>
          <a:prstGeom prst="line">
            <a:avLst/>
          </a:prstGeom>
          <a:ln w="15875">
            <a:solidFill>
              <a:srgbClr val="8C96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cxnSpLocks/>
            <a:endCxn id="47" idx="0"/>
          </p:cNvCxnSpPr>
          <p:nvPr/>
        </p:nvCxnSpPr>
        <p:spPr>
          <a:xfrm flipH="1">
            <a:off x="4214453" y="4616870"/>
            <a:ext cx="448988" cy="964053"/>
          </a:xfrm>
          <a:prstGeom prst="line">
            <a:avLst/>
          </a:prstGeom>
          <a:ln w="15875">
            <a:solidFill>
              <a:srgbClr val="8C96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001000" y="1773936"/>
            <a:ext cx="429768" cy="429768"/>
          </a:xfrm>
          <a:prstGeom prst="line">
            <a:avLst/>
          </a:prstGeom>
          <a:ln w="15875">
            <a:solidFill>
              <a:srgbClr val="8C96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001000" y="3300984"/>
            <a:ext cx="429768" cy="100584"/>
          </a:xfrm>
          <a:prstGeom prst="line">
            <a:avLst/>
          </a:prstGeom>
          <a:ln w="15875">
            <a:solidFill>
              <a:srgbClr val="8C96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001000" y="4654296"/>
            <a:ext cx="429768" cy="182880"/>
          </a:xfrm>
          <a:prstGeom prst="line">
            <a:avLst/>
          </a:prstGeom>
          <a:ln w="15875">
            <a:solidFill>
              <a:srgbClr val="8C96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3BA8CA9-B1B0-BB65-743C-868A957447C0}"/>
              </a:ext>
            </a:extLst>
          </p:cNvPr>
          <p:cNvSpPr txBox="1"/>
          <p:nvPr/>
        </p:nvSpPr>
        <p:spPr>
          <a:xfrm>
            <a:off x="475488" y="671894"/>
            <a:ext cx="3666744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b="1" dirty="0"/>
              <a:t>구조물 </a:t>
            </a:r>
            <a:r>
              <a:rPr kumimoji="1" lang="en-US" altLang="ko-KR" sz="1200" b="1" dirty="0"/>
              <a:t>+ </a:t>
            </a:r>
            <a:r>
              <a:rPr kumimoji="1" lang="ko-KR" altLang="en-US" sz="1200" b="1" dirty="0"/>
              <a:t>기초 </a:t>
            </a:r>
            <a:r>
              <a:rPr kumimoji="1" lang="en-US" altLang="ko-KR" sz="1200" b="1" dirty="0"/>
              <a:t>+ </a:t>
            </a:r>
            <a:r>
              <a:rPr kumimoji="1" lang="ko-KR" altLang="en-US" sz="1200" b="1" dirty="0"/>
              <a:t>지반</a:t>
            </a:r>
            <a:r>
              <a:rPr kumimoji="1" lang="en-US" altLang="ko-KR" sz="1200" b="1" dirty="0"/>
              <a:t> + </a:t>
            </a:r>
            <a:r>
              <a:rPr kumimoji="1" lang="ko-KR" altLang="en-US" sz="1200" b="1" dirty="0"/>
              <a:t>경계조건 </a:t>
            </a:r>
            <a:r>
              <a:rPr kumimoji="1" lang="en-US" altLang="ko-KR" sz="1200" b="1" dirty="0"/>
              <a:t>+ </a:t>
            </a:r>
            <a:r>
              <a:rPr kumimoji="1" lang="ko-KR" altLang="en-US" sz="1200" b="1" dirty="0"/>
              <a:t>환경 하중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2704AE-FAA4-C10B-35A4-261639FDEDA8}"/>
              </a:ext>
            </a:extLst>
          </p:cNvPr>
          <p:cNvSpPr txBox="1"/>
          <p:nvPr/>
        </p:nvSpPr>
        <p:spPr>
          <a:xfrm>
            <a:off x="598455" y="2321068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2563EB"/>
                </a:solidFill>
                <a:latin typeface="Malgun Gothic"/>
              </a:rPr>
              <a:t>외부 보호</a:t>
            </a:r>
            <a:r>
              <a:rPr lang="en-US" altLang="ko-KR" sz="1200" b="1" dirty="0">
                <a:solidFill>
                  <a:srgbClr val="2563EB"/>
                </a:solidFill>
                <a:latin typeface="Malgun Gothic"/>
              </a:rPr>
              <a:t>/</a:t>
            </a:r>
            <a:r>
              <a:rPr lang="ko-KR" altLang="en-US" sz="1200" b="1" dirty="0">
                <a:solidFill>
                  <a:srgbClr val="2563EB"/>
                </a:solidFill>
                <a:latin typeface="Malgun Gothic"/>
              </a:rPr>
              <a:t>차폐 구성요소</a:t>
            </a:r>
            <a:endParaRPr sz="1200" b="1" dirty="0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AE43E1-66BE-59C0-1E0D-C1F3EF04C443}"/>
              </a:ext>
            </a:extLst>
          </p:cNvPr>
          <p:cNvSpPr txBox="1"/>
          <p:nvPr/>
        </p:nvSpPr>
        <p:spPr>
          <a:xfrm>
            <a:off x="576072" y="2591840"/>
            <a:ext cx="2734056" cy="526298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외피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차폐층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단열층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압력 유지층을 통해 온도 변화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방사선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먼지폭풍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내외부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압력차로부터 내부 공간과 구조체를 보호하는 환경 대응 시스템</a:t>
            </a:r>
            <a:endParaRPr sz="900" b="0" dirty="0">
              <a:solidFill>
                <a:schemeClr val="tx1">
                  <a:lumMod val="65000"/>
                  <a:lumOff val="35000"/>
                </a:schemeClr>
              </a:solidFill>
              <a:latin typeface="Malgun Gothic"/>
            </a:endParaRPr>
          </a:p>
        </p:txBody>
      </p:sp>
      <p:cxnSp>
        <p:nvCxnSpPr>
          <p:cNvPr id="77" name="Connector 62">
            <a:extLst>
              <a:ext uri="{FF2B5EF4-FFF2-40B4-BE49-F238E27FC236}">
                <a16:creationId xmlns:a16="http://schemas.microsoft.com/office/drawing/2014/main" id="{157228D2-BCF7-A036-A8C1-15B2E4415943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3474720" y="2893704"/>
            <a:ext cx="1719073" cy="325409"/>
          </a:xfrm>
          <a:prstGeom prst="line">
            <a:avLst/>
          </a:prstGeom>
          <a:ln w="15875">
            <a:solidFill>
              <a:srgbClr val="8C96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3912B84-DF24-6935-4588-080EC0D39817}"/>
              </a:ext>
            </a:extLst>
          </p:cNvPr>
          <p:cNvSpPr txBox="1"/>
          <p:nvPr/>
        </p:nvSpPr>
        <p:spPr>
          <a:xfrm>
            <a:off x="592499" y="4443984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16A34A"/>
                </a:solidFill>
                <a:latin typeface="Malgun Gothic"/>
              </a:rPr>
              <a:t>지반</a:t>
            </a:r>
            <a:r>
              <a:rPr lang="en-US" altLang="ko-KR" sz="1200" b="1" dirty="0">
                <a:solidFill>
                  <a:srgbClr val="16A34A"/>
                </a:solidFill>
                <a:latin typeface="Malgun Gothic"/>
              </a:rPr>
              <a:t>-</a:t>
            </a:r>
            <a:r>
              <a:rPr lang="ko-KR" altLang="en-US" sz="1200" b="1" dirty="0">
                <a:solidFill>
                  <a:srgbClr val="16A34A"/>
                </a:solidFill>
                <a:latin typeface="Malgun Gothic"/>
              </a:rPr>
              <a:t>기초 접촉</a:t>
            </a:r>
            <a:r>
              <a:rPr sz="1200" b="1" dirty="0" err="1">
                <a:solidFill>
                  <a:srgbClr val="16A34A"/>
                </a:solidFill>
                <a:latin typeface="Malgun Gothic"/>
              </a:rPr>
              <a:t>부</a:t>
            </a:r>
            <a:endParaRPr sz="1200" b="1" dirty="0">
              <a:solidFill>
                <a:srgbClr val="16A34A"/>
              </a:solidFill>
              <a:latin typeface="Malgun Gothic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744B579-1B0C-2175-C2D0-A101A4CDBF21}"/>
              </a:ext>
            </a:extLst>
          </p:cNvPr>
          <p:cNvSpPr txBox="1"/>
          <p:nvPr/>
        </p:nvSpPr>
        <p:spPr>
          <a:xfrm>
            <a:off x="578358" y="4701715"/>
            <a:ext cx="2884932" cy="526298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900" dirty="0"/>
              <a:t>기초와 지반 사이의 연결 조건을 정의하는 </a:t>
            </a:r>
            <a:r>
              <a:rPr lang="en" altLang="ko-KR" sz="900" dirty="0"/>
              <a:t>SSI </a:t>
            </a:r>
            <a:r>
              <a:rPr lang="ko-KR" altLang="en-US" sz="900" dirty="0"/>
              <a:t>요소</a:t>
            </a:r>
            <a:r>
              <a:rPr lang="en-US" altLang="ko-KR" sz="900" dirty="0"/>
              <a:t>. </a:t>
            </a:r>
            <a:r>
              <a:rPr lang="ko-KR" altLang="en-US" sz="900" dirty="0"/>
              <a:t>완전고정</a:t>
            </a:r>
            <a:r>
              <a:rPr lang="en-US" altLang="ko-KR" sz="900" dirty="0"/>
              <a:t>, </a:t>
            </a:r>
            <a:r>
              <a:rPr lang="ko-KR" altLang="en-US" sz="900" dirty="0"/>
              <a:t>스프링</a:t>
            </a:r>
            <a:r>
              <a:rPr lang="en-US" altLang="ko-KR" sz="900" dirty="0"/>
              <a:t>, </a:t>
            </a:r>
            <a:r>
              <a:rPr lang="ko-KR" altLang="en-US" sz="900" dirty="0"/>
              <a:t>노드 결합</a:t>
            </a:r>
            <a:r>
              <a:rPr lang="en-US" altLang="ko-KR" sz="900" dirty="0"/>
              <a:t>, </a:t>
            </a:r>
            <a:r>
              <a:rPr lang="ko-KR" altLang="en-US" sz="900" dirty="0"/>
              <a:t>매립 조건을 통해 지반 변형성과 </a:t>
            </a:r>
            <a:r>
              <a:rPr lang="en" altLang="ko-KR" sz="900" dirty="0"/>
              <a:t>uplift </a:t>
            </a:r>
            <a:r>
              <a:rPr lang="ko-KR" altLang="en-US" sz="900" dirty="0"/>
              <a:t>가능성을 반영</a:t>
            </a:r>
            <a:endParaRPr sz="90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4C0F1D0-DAC5-3312-B3E3-923F92861063}"/>
              </a:ext>
            </a:extLst>
          </p:cNvPr>
          <p:cNvSpPr txBox="1"/>
          <p:nvPr/>
        </p:nvSpPr>
        <p:spPr>
          <a:xfrm>
            <a:off x="2884671" y="5719579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sz="1200" b="1" dirty="0" err="1">
                <a:solidFill>
                  <a:srgbClr val="D97706"/>
                </a:solidFill>
                <a:latin typeface="Malgun Gothic"/>
              </a:rPr>
              <a:t>지반</a:t>
            </a:r>
            <a:r>
              <a:rPr lang="ko-KR" altLang="en-US" sz="1200" b="1" dirty="0">
                <a:solidFill>
                  <a:srgbClr val="D97706"/>
                </a:solidFill>
                <a:latin typeface="Malgun Gothic"/>
              </a:rPr>
              <a:t>재료</a:t>
            </a:r>
            <a:endParaRPr sz="1200" b="1" dirty="0">
              <a:solidFill>
                <a:srgbClr val="D97706"/>
              </a:solidFill>
              <a:latin typeface="Malgun Gothic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70022C9-739C-0BCB-0437-1AC4C1D17FCD}"/>
              </a:ext>
            </a:extLst>
          </p:cNvPr>
          <p:cNvSpPr txBox="1"/>
          <p:nvPr/>
        </p:nvSpPr>
        <p:spPr>
          <a:xfrm>
            <a:off x="2890647" y="6042909"/>
            <a:ext cx="2734056" cy="418576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1000" dirty="0"/>
              <a:t>지구 지반과 화성 </a:t>
            </a:r>
            <a:r>
              <a:rPr lang="ko-KR" altLang="en-US" sz="1000" dirty="0" err="1"/>
              <a:t>레골리스의</a:t>
            </a:r>
            <a:r>
              <a:rPr lang="ko-KR" altLang="en-US" sz="1000" dirty="0"/>
              <a:t> 밀도</a:t>
            </a:r>
            <a:r>
              <a:rPr lang="en-US" altLang="ko-KR" sz="1000" dirty="0"/>
              <a:t>, </a:t>
            </a:r>
            <a:r>
              <a:rPr lang="ko-KR" altLang="en-US" sz="1000" dirty="0"/>
              <a:t>탄성계수</a:t>
            </a:r>
            <a:r>
              <a:rPr lang="en-US" altLang="ko-KR" sz="1000" dirty="0"/>
              <a:t> </a:t>
            </a:r>
            <a:r>
              <a:rPr lang="ko-KR" altLang="en-US" sz="1000" dirty="0" err="1"/>
              <a:t>포아송비</a:t>
            </a:r>
            <a:r>
              <a:rPr lang="en-US" altLang="ko-KR" sz="1000" dirty="0"/>
              <a:t>, </a:t>
            </a:r>
            <a:r>
              <a:rPr lang="ko-KR" altLang="en-US" sz="1000" dirty="0"/>
              <a:t>전단강도 등을 정의</a:t>
            </a:r>
            <a:endParaRPr sz="94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B612BFB-2D15-218E-1305-B98F86009506}"/>
              </a:ext>
            </a:extLst>
          </p:cNvPr>
          <p:cNvSpPr txBox="1"/>
          <p:nvPr/>
        </p:nvSpPr>
        <p:spPr>
          <a:xfrm>
            <a:off x="5562967" y="5713417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sz="1200" b="1" dirty="0" err="1">
                <a:solidFill>
                  <a:srgbClr val="D97706"/>
                </a:solidFill>
                <a:latin typeface="Malgun Gothic"/>
              </a:rPr>
              <a:t>지반</a:t>
            </a:r>
            <a:r>
              <a:rPr lang="ko-KR" altLang="en-US" sz="1200" b="1" dirty="0">
                <a:solidFill>
                  <a:srgbClr val="D97706"/>
                </a:solidFill>
                <a:latin typeface="Malgun Gothic"/>
              </a:rPr>
              <a:t> 동적특성</a:t>
            </a:r>
            <a:endParaRPr sz="1200" b="1" dirty="0">
              <a:solidFill>
                <a:srgbClr val="D97706"/>
              </a:solidFill>
              <a:latin typeface="Malgun Gothic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4163AB-419D-3357-6BA6-9AD7C144A264}"/>
              </a:ext>
            </a:extLst>
          </p:cNvPr>
          <p:cNvSpPr txBox="1"/>
          <p:nvPr/>
        </p:nvSpPr>
        <p:spPr>
          <a:xfrm>
            <a:off x="5562967" y="6025896"/>
            <a:ext cx="2734056" cy="418576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1000" dirty="0"/>
              <a:t>지진파나 동적하중 입력 시 지반</a:t>
            </a:r>
            <a:r>
              <a:rPr lang="en-US" altLang="ko-KR" sz="1000" dirty="0"/>
              <a:t>-</a:t>
            </a:r>
            <a:r>
              <a:rPr lang="ko-KR" altLang="en-US" sz="1000" dirty="0"/>
              <a:t>구조물 시스템의 진동 응답을 비교</a:t>
            </a:r>
            <a:endParaRPr sz="94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13975C-E46A-784C-716D-56248E831694}"/>
              </a:ext>
            </a:extLst>
          </p:cNvPr>
          <p:cNvSpPr txBox="1"/>
          <p:nvPr/>
        </p:nvSpPr>
        <p:spPr>
          <a:xfrm>
            <a:off x="8525605" y="1679290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7E22CE"/>
                </a:solidFill>
                <a:latin typeface="Malgun Gothic"/>
              </a:rPr>
              <a:t>지반 경계조건</a:t>
            </a:r>
            <a:endParaRPr sz="1200" b="1" dirty="0">
              <a:solidFill>
                <a:srgbClr val="7E22CE"/>
              </a:solidFill>
              <a:latin typeface="Malgun Gothic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0EF6687-744C-19C7-1410-1457B7426B4A}"/>
              </a:ext>
            </a:extLst>
          </p:cNvPr>
          <p:cNvSpPr txBox="1"/>
          <p:nvPr/>
        </p:nvSpPr>
        <p:spPr>
          <a:xfrm>
            <a:off x="8525605" y="1978613"/>
            <a:ext cx="2915237" cy="572464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1000" dirty="0"/>
              <a:t>지반 모델의 하부</a:t>
            </a:r>
            <a:r>
              <a:rPr lang="en-US" altLang="ko-KR" sz="1000" dirty="0"/>
              <a:t>·</a:t>
            </a:r>
            <a:r>
              <a:rPr lang="ko-KR" altLang="en-US" sz="1000" dirty="0"/>
              <a:t>측면</a:t>
            </a:r>
            <a:r>
              <a:rPr lang="en-US" altLang="ko-KR" sz="1000" dirty="0"/>
              <a:t>·</a:t>
            </a:r>
            <a:r>
              <a:rPr lang="ko-KR" altLang="en-US" sz="1000" dirty="0"/>
              <a:t>지표면 경계를 정의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ko-KR" altLang="en-US" sz="1000" dirty="0"/>
              <a:t>하부 고정</a:t>
            </a:r>
            <a:r>
              <a:rPr lang="en-US" altLang="ko-KR" sz="1000" dirty="0"/>
              <a:t>, </a:t>
            </a:r>
            <a:r>
              <a:rPr lang="ko-KR" altLang="en-US" sz="1000" dirty="0"/>
              <a:t>측면 구속</a:t>
            </a:r>
            <a:r>
              <a:rPr lang="en-US" altLang="ko-KR" sz="1000" dirty="0"/>
              <a:t>, </a:t>
            </a:r>
            <a:r>
              <a:rPr lang="ko-KR" altLang="en-US" sz="1000" dirty="0"/>
              <a:t>자유면</a:t>
            </a:r>
            <a:r>
              <a:rPr lang="en-US" altLang="ko-KR" sz="1000" dirty="0"/>
              <a:t>, </a:t>
            </a:r>
            <a:r>
              <a:rPr lang="ko-KR" altLang="en-US" sz="1000" dirty="0"/>
              <a:t>동적 입력 경계를 통해 실제 지반 거동을 단순화</a:t>
            </a:r>
            <a:endParaRPr sz="94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E21FE9A-0A6A-B8F4-FA6A-A0CC1045D533}"/>
              </a:ext>
            </a:extLst>
          </p:cNvPr>
          <p:cNvSpPr txBox="1"/>
          <p:nvPr/>
        </p:nvSpPr>
        <p:spPr>
          <a:xfrm>
            <a:off x="8595360" y="3870580"/>
            <a:ext cx="2423160" cy="29546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E11D48"/>
                </a:solidFill>
                <a:latin typeface="Malgun Gothic"/>
              </a:rPr>
              <a:t>환경 차이</a:t>
            </a:r>
            <a:endParaRPr sz="1200" b="1" dirty="0">
              <a:solidFill>
                <a:srgbClr val="E11D48"/>
              </a:solidFill>
              <a:latin typeface="Malgun Gothic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3F8DEA5-719D-3287-00A0-2CBCCE9D3918}"/>
              </a:ext>
            </a:extLst>
          </p:cNvPr>
          <p:cNvSpPr txBox="1"/>
          <p:nvPr/>
        </p:nvSpPr>
        <p:spPr>
          <a:xfrm>
            <a:off x="8595360" y="4137321"/>
            <a:ext cx="2734056" cy="418576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r>
              <a:rPr lang="ko-KR" altLang="en-US" sz="1000" dirty="0"/>
              <a:t>같은 구조물이 지구와 화성에서 어떻게 다른 변위</a:t>
            </a:r>
            <a:r>
              <a:rPr lang="en-US" altLang="ko-KR" sz="1000" dirty="0"/>
              <a:t>, </a:t>
            </a:r>
            <a:r>
              <a:rPr lang="ko-KR" altLang="en-US" sz="1000" dirty="0"/>
              <a:t>반력</a:t>
            </a:r>
            <a:r>
              <a:rPr lang="en-US" altLang="ko-KR" sz="1000" dirty="0"/>
              <a:t>, </a:t>
            </a:r>
            <a:r>
              <a:rPr lang="ko-KR" altLang="en-US" sz="1000" dirty="0"/>
              <a:t>동적응답을 보이는지 비교</a:t>
            </a:r>
            <a:endParaRPr sz="940" b="0" dirty="0">
              <a:solidFill>
                <a:srgbClr val="30363E"/>
              </a:solidFill>
              <a:latin typeface="Malgun Gothic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E17BA16-42F3-8A1F-32F1-CA0025EB743F}"/>
              </a:ext>
            </a:extLst>
          </p:cNvPr>
          <p:cNvSpPr txBox="1"/>
          <p:nvPr/>
        </p:nvSpPr>
        <p:spPr>
          <a:xfrm>
            <a:off x="2784264" y="1263294"/>
            <a:ext cx="733271" cy="280077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sz="105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Malgun Gothic"/>
              </a:rPr>
              <a:t>구조물</a:t>
            </a:r>
            <a:endParaRPr sz="1050" b="1" dirty="0">
              <a:solidFill>
                <a:schemeClr val="accent1">
                  <a:lumMod val="40000"/>
                  <a:lumOff val="60000"/>
                </a:schemeClr>
              </a:solidFill>
              <a:latin typeface="Malgun Gothic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9C8FBF5-3C79-61B6-948D-5ABF909915D5}"/>
              </a:ext>
            </a:extLst>
          </p:cNvPr>
          <p:cNvSpPr txBox="1"/>
          <p:nvPr/>
        </p:nvSpPr>
        <p:spPr>
          <a:xfrm>
            <a:off x="2805458" y="3433674"/>
            <a:ext cx="733271" cy="280077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05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Malgun Gothic"/>
              </a:rPr>
              <a:t>기초부</a:t>
            </a:r>
            <a:endParaRPr sz="1050" b="1" dirty="0">
              <a:solidFill>
                <a:schemeClr val="accent6">
                  <a:lumMod val="20000"/>
                  <a:lumOff val="80000"/>
                </a:schemeClr>
              </a:solidFill>
              <a:latin typeface="Malgun Gothic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C588346-F551-EB47-7691-A85E754942F5}"/>
              </a:ext>
            </a:extLst>
          </p:cNvPr>
          <p:cNvSpPr txBox="1"/>
          <p:nvPr/>
        </p:nvSpPr>
        <p:spPr>
          <a:xfrm>
            <a:off x="7315334" y="5623989"/>
            <a:ext cx="733271" cy="280077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050" b="1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Malgun Gothic"/>
              </a:rPr>
              <a:t>지반부</a:t>
            </a:r>
            <a:endParaRPr sz="1050" b="1" dirty="0">
              <a:solidFill>
                <a:schemeClr val="accent2">
                  <a:lumMod val="20000"/>
                  <a:lumOff val="80000"/>
                </a:schemeClr>
              </a:solidFill>
              <a:latin typeface="Malgun Gothic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832A97-8563-0B41-70A3-15927D2BBD91}"/>
              </a:ext>
            </a:extLst>
          </p:cNvPr>
          <p:cNvSpPr txBox="1"/>
          <p:nvPr/>
        </p:nvSpPr>
        <p:spPr>
          <a:xfrm>
            <a:off x="10690985" y="629813"/>
            <a:ext cx="733271" cy="272382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050" b="1" dirty="0">
                <a:solidFill>
                  <a:srgbClr val="E0D6FF"/>
                </a:solidFill>
                <a:latin typeface="Malgun Gothic"/>
              </a:rPr>
              <a:t>경계조건</a:t>
            </a:r>
            <a:endParaRPr sz="1050" b="1" dirty="0">
              <a:solidFill>
                <a:srgbClr val="E0D6FF"/>
              </a:solidFill>
              <a:latin typeface="Malgun Gothic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EAD31C2-ACC6-525E-EF05-A1DD345CE49B}"/>
              </a:ext>
            </a:extLst>
          </p:cNvPr>
          <p:cNvSpPr txBox="1"/>
          <p:nvPr/>
        </p:nvSpPr>
        <p:spPr>
          <a:xfrm>
            <a:off x="10345159" y="3105028"/>
            <a:ext cx="1196163" cy="272382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050" b="1" dirty="0">
                <a:solidFill>
                  <a:srgbClr val="F3BEAD"/>
                </a:solidFill>
                <a:latin typeface="Malgun Gothic"/>
              </a:rPr>
              <a:t>하중</a:t>
            </a:r>
            <a:r>
              <a:rPr lang="en-US" altLang="ko-KR" sz="1050" b="1" dirty="0">
                <a:solidFill>
                  <a:srgbClr val="F3BEAD"/>
                </a:solidFill>
                <a:latin typeface="Malgun Gothic"/>
              </a:rPr>
              <a:t>/</a:t>
            </a:r>
            <a:r>
              <a:rPr lang="ko-KR" altLang="en-US" sz="1050" b="1" dirty="0">
                <a:solidFill>
                  <a:srgbClr val="F3BEAD"/>
                </a:solidFill>
                <a:latin typeface="Malgun Gothic"/>
              </a:rPr>
              <a:t>환경 요소</a:t>
            </a:r>
            <a:endParaRPr sz="1050" b="1" dirty="0">
              <a:solidFill>
                <a:srgbClr val="F3BEAD"/>
              </a:solidFill>
              <a:latin typeface="Malgun Gothic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8B0307-E6C0-D513-CA92-BACBABF7CF39}"/>
              </a:ext>
            </a:extLst>
          </p:cNvPr>
          <p:cNvSpPr txBox="1"/>
          <p:nvPr/>
        </p:nvSpPr>
        <p:spPr>
          <a:xfrm>
            <a:off x="10387903" y="4896087"/>
            <a:ext cx="1196163" cy="272382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/>
            <a:r>
              <a:rPr lang="ko-KR" altLang="en-US" sz="1050" b="1" dirty="0">
                <a:solidFill>
                  <a:schemeClr val="bg1">
                    <a:lumMod val="85000"/>
                  </a:schemeClr>
                </a:solidFill>
                <a:latin typeface="Malgun Gothic"/>
              </a:rPr>
              <a:t>응답 구성요소</a:t>
            </a:r>
            <a:endParaRPr sz="1050" b="1" dirty="0">
              <a:solidFill>
                <a:schemeClr val="bg1">
                  <a:lumMod val="85000"/>
                </a:schemeClr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1752" y="182880"/>
            <a:ext cx="338328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2100" b="1">
                <a:solidFill>
                  <a:srgbClr val="1E1E1E"/>
                </a:solidFill>
                <a:latin typeface="Malgun Gothic"/>
              </a:rPr>
              <a:t>구조물 유형 조사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3703320" y="283464"/>
            <a:ext cx="51206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1350" b="0">
                <a:solidFill>
                  <a:srgbClr val="6E6E6E"/>
                </a:solidFill>
                <a:latin typeface="Malgun Gothic"/>
              </a:rPr>
              <a:t>Simulation Structure Category Menu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" y="667512"/>
            <a:ext cx="11539728" cy="0"/>
          </a:xfrm>
          <a:prstGeom prst="line">
            <a:avLst/>
          </a:prstGeom>
          <a:ln w="1397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822960"/>
            <a:ext cx="11338560" cy="530352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20" b="1" dirty="0" err="1">
                <a:solidFill>
                  <a:srgbClr val="1E1E1E"/>
                </a:solidFill>
                <a:latin typeface="Malgun Gothic"/>
              </a:rPr>
              <a:t>지구·화성</a:t>
            </a:r>
            <a:r>
              <a:rPr sz="132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20" b="1" dirty="0" err="1">
                <a:solidFill>
                  <a:srgbClr val="1E1E1E"/>
                </a:solidFill>
                <a:latin typeface="Malgun Gothic"/>
              </a:rPr>
              <a:t>가상환경에</a:t>
            </a:r>
            <a:r>
              <a:rPr sz="132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20" b="1" dirty="0" err="1">
                <a:solidFill>
                  <a:srgbClr val="1E1E1E"/>
                </a:solidFill>
                <a:latin typeface="Malgun Gothic"/>
              </a:rPr>
              <a:t>동일하게</a:t>
            </a:r>
            <a:r>
              <a:rPr sz="132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20" b="1" dirty="0" err="1">
                <a:solidFill>
                  <a:srgbClr val="1E1E1E"/>
                </a:solidFill>
                <a:latin typeface="Malgun Gothic"/>
              </a:rPr>
              <a:t>배치할</a:t>
            </a:r>
            <a:r>
              <a:rPr sz="132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20" b="1" dirty="0" err="1">
                <a:solidFill>
                  <a:srgbClr val="1E1E1E"/>
                </a:solidFill>
                <a:latin typeface="Malgun Gothic"/>
              </a:rPr>
              <a:t>구조물</a:t>
            </a:r>
            <a:r>
              <a:rPr sz="132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20" b="1" dirty="0" err="1">
                <a:solidFill>
                  <a:srgbClr val="1E1E1E"/>
                </a:solidFill>
                <a:latin typeface="Malgun Gothic"/>
              </a:rPr>
              <a:t>후보</a:t>
            </a:r>
            <a:r>
              <a:rPr sz="132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20" b="1" dirty="0" err="1">
                <a:solidFill>
                  <a:srgbClr val="1E1E1E"/>
                </a:solidFill>
                <a:latin typeface="Malgun Gothic"/>
              </a:rPr>
              <a:t>유형화</a:t>
            </a:r>
            <a:endParaRPr sz="1320" b="1" dirty="0">
              <a:solidFill>
                <a:srgbClr val="1E1E1E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2758" y="1600201"/>
            <a:ext cx="2682561" cy="18263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2958" y="1795110"/>
            <a:ext cx="457200" cy="256032"/>
          </a:xfrm>
          <a:prstGeom prst="roundRect">
            <a:avLst/>
          </a:prstGeom>
          <a:solidFill>
            <a:srgbClr val="AA2A2A"/>
          </a:solidFill>
          <a:ln w="10160">
            <a:solidFill>
              <a:srgbClr val="A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4704" y="1783562"/>
            <a:ext cx="134416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1360" b="1" dirty="0" err="1">
                <a:solidFill>
                  <a:srgbClr val="1E1E1E"/>
                </a:solidFill>
                <a:latin typeface="Malgun Gothic"/>
              </a:rPr>
              <a:t>수직</a:t>
            </a:r>
            <a:r>
              <a:rPr sz="136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60" b="1" dirty="0" err="1">
                <a:solidFill>
                  <a:srgbClr val="1E1E1E"/>
                </a:solidFill>
                <a:latin typeface="Malgun Gothic"/>
              </a:rPr>
              <a:t>원통형</a:t>
            </a:r>
            <a:endParaRPr sz="1360" b="1" dirty="0">
              <a:solidFill>
                <a:srgbClr val="1E1E1E"/>
              </a:solidFill>
              <a:latin typeface="Malgun Gothic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02159" y="2221992"/>
            <a:ext cx="2194560" cy="0"/>
          </a:xfrm>
          <a:prstGeom prst="line">
            <a:avLst/>
          </a:prstGeom>
          <a:ln w="1016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2159" y="2340864"/>
            <a:ext cx="2194560" cy="347472"/>
          </a:xfrm>
          <a:prstGeom prst="roundRect">
            <a:avLst/>
          </a:prstGeom>
          <a:solidFill>
            <a:srgbClr val="F6E8E8"/>
          </a:solidFill>
          <a:ln w="10160">
            <a:solidFill>
              <a:srgbClr val="F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1080" b="1">
                <a:solidFill>
                  <a:srgbClr val="AA2A2A"/>
                </a:solidFill>
                <a:latin typeface="Malgun Gothic"/>
              </a:rPr>
              <a:t>수직 생활공간 + 작은 기초면적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572" y="2652519"/>
            <a:ext cx="2240280" cy="614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919" b="0" dirty="0">
                <a:solidFill>
                  <a:srgbClr val="323232"/>
                </a:solidFill>
                <a:latin typeface="Malgun Gothic"/>
              </a:rPr>
              <a:t>•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거친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지형에서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로봇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시공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경로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단순화</a:t>
            </a:r>
            <a:endParaRPr lang="en-US" sz="919" b="0" dirty="0">
              <a:solidFill>
                <a:srgbClr val="323232"/>
              </a:solidFill>
              <a:latin typeface="Malgun Gothic"/>
            </a:endParaRPr>
          </a:p>
          <a:p>
            <a:pPr algn="l"/>
            <a:r>
              <a:rPr sz="919" b="0" dirty="0">
                <a:solidFill>
                  <a:srgbClr val="323232"/>
                </a:solidFill>
                <a:latin typeface="Malgun Gothic"/>
              </a:rPr>
              <a:t>
•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이중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쉘로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외기·압력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스트레스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분리</a:t>
            </a:r>
            <a:endParaRPr sz="919" b="0" dirty="0">
              <a:solidFill>
                <a:srgbClr val="323232"/>
              </a:solidFill>
              <a:latin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80768" y="1600201"/>
            <a:ext cx="2682561" cy="18263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70968" y="1795110"/>
            <a:ext cx="457200" cy="256032"/>
          </a:xfrm>
          <a:prstGeom prst="roundRect">
            <a:avLst/>
          </a:prstGeom>
          <a:solidFill>
            <a:srgbClr val="AA2A2A"/>
          </a:solidFill>
          <a:ln w="10160">
            <a:solidFill>
              <a:srgbClr val="A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02714" y="1783562"/>
            <a:ext cx="134416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1360" b="1" dirty="0" err="1">
                <a:solidFill>
                  <a:srgbClr val="1E1E1E"/>
                </a:solidFill>
                <a:latin typeface="Malgun Gothic"/>
              </a:rPr>
              <a:t>하이퍼볼로이드</a:t>
            </a:r>
            <a:endParaRPr sz="1360" b="1" dirty="0">
              <a:solidFill>
                <a:srgbClr val="1E1E1E"/>
              </a:solidFill>
              <a:latin typeface="Malgun Gothic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540169" y="2221992"/>
            <a:ext cx="2194560" cy="0"/>
          </a:xfrm>
          <a:prstGeom prst="line">
            <a:avLst/>
          </a:prstGeom>
          <a:ln w="1016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40169" y="2340864"/>
            <a:ext cx="2194560" cy="347472"/>
          </a:xfrm>
          <a:prstGeom prst="roundRect">
            <a:avLst/>
          </a:prstGeom>
          <a:solidFill>
            <a:srgbClr val="F6E8E8"/>
          </a:solidFill>
          <a:ln w="10160">
            <a:solidFill>
              <a:srgbClr val="F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1080" b="1">
                <a:solidFill>
                  <a:srgbClr val="AA2A2A"/>
                </a:solidFill>
                <a:latin typeface="Malgun Gothic"/>
              </a:rPr>
              <a:t>최소 재료 + 최대 강성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2581" y="2710477"/>
            <a:ext cx="2343913" cy="4990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919" b="0" dirty="0">
                <a:solidFill>
                  <a:srgbClr val="323232"/>
                </a:solidFill>
                <a:latin typeface="Malgun Gothic"/>
              </a:rPr>
              <a:t>•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외부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압력·내부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팽창력에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대한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안정성</a:t>
            </a:r>
            <a:endParaRPr lang="en-US" sz="919" b="0" dirty="0">
              <a:solidFill>
                <a:srgbClr val="323232"/>
              </a:solidFill>
              <a:latin typeface="Malgun Gothic"/>
            </a:endParaRPr>
          </a:p>
          <a:p>
            <a:pPr algn="l"/>
            <a:r>
              <a:rPr sz="919" b="0" dirty="0">
                <a:solidFill>
                  <a:srgbClr val="323232"/>
                </a:solidFill>
                <a:latin typeface="Malgun Gothic"/>
              </a:rPr>
              <a:t>
•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현무암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섬유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/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후프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보강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격자로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인장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보완</a:t>
            </a:r>
            <a:endParaRPr sz="919" b="0" dirty="0">
              <a:solidFill>
                <a:srgbClr val="323232"/>
              </a:solidFill>
              <a:latin typeface="Malgun Gothi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13169" y="1600201"/>
            <a:ext cx="2682561" cy="18263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3369" y="1795110"/>
            <a:ext cx="457200" cy="256032"/>
          </a:xfrm>
          <a:prstGeom prst="roundRect">
            <a:avLst/>
          </a:prstGeom>
          <a:solidFill>
            <a:srgbClr val="AA2A2A"/>
          </a:solidFill>
          <a:ln w="10160">
            <a:solidFill>
              <a:srgbClr val="A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24954" y="1773402"/>
            <a:ext cx="1806181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l"/>
            <a:r>
              <a:rPr sz="1300" b="1" dirty="0" err="1">
                <a:solidFill>
                  <a:srgbClr val="1E1E1E"/>
                </a:solidFill>
                <a:latin typeface="Malgun Gothic"/>
              </a:rPr>
              <a:t>측지선</a:t>
            </a:r>
            <a:r>
              <a:rPr sz="130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1E1E1E"/>
                </a:solidFill>
                <a:latin typeface="Malgun Gothic"/>
              </a:rPr>
              <a:t>돔·공기주입식</a:t>
            </a:r>
            <a:endParaRPr sz="1300" b="1" dirty="0">
              <a:solidFill>
                <a:srgbClr val="1E1E1E"/>
              </a:solidFill>
              <a:latin typeface="Malgun Gothic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6372570" y="2221992"/>
            <a:ext cx="2194560" cy="0"/>
          </a:xfrm>
          <a:prstGeom prst="line">
            <a:avLst/>
          </a:prstGeom>
          <a:ln w="1016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372570" y="2340864"/>
            <a:ext cx="2194560" cy="347472"/>
          </a:xfrm>
          <a:prstGeom prst="roundRect">
            <a:avLst/>
          </a:prstGeom>
          <a:solidFill>
            <a:srgbClr val="F6E8E8"/>
          </a:solidFill>
          <a:ln w="10160">
            <a:solidFill>
              <a:srgbClr val="F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1080" b="1">
                <a:solidFill>
                  <a:srgbClr val="AA2A2A"/>
                </a:solidFill>
                <a:latin typeface="Malgun Gothic"/>
              </a:rPr>
              <a:t>삼각 프레임 + 경량 멤브레인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4982" y="2710477"/>
            <a:ext cx="2487167" cy="4990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919" b="0" dirty="0">
                <a:solidFill>
                  <a:srgbClr val="323232"/>
                </a:solidFill>
                <a:latin typeface="Malgun Gothic"/>
              </a:rPr>
              <a:t>•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저압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환경에서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강성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유지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,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조립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용이</a:t>
            </a:r>
            <a:endParaRPr lang="en-US" sz="919" b="0" dirty="0">
              <a:solidFill>
                <a:srgbClr val="323232"/>
              </a:solidFill>
              <a:latin typeface="Malgun Gothic"/>
            </a:endParaRPr>
          </a:p>
          <a:p>
            <a:pPr algn="l"/>
            <a:r>
              <a:rPr sz="919" b="0" dirty="0">
                <a:solidFill>
                  <a:srgbClr val="323232"/>
                </a:solidFill>
                <a:latin typeface="Malgun Gothic"/>
              </a:rPr>
              <a:t>
•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테두리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상향하중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→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고정·기초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설계가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핵심</a:t>
            </a:r>
            <a:endParaRPr sz="919" b="0" dirty="0">
              <a:solidFill>
                <a:srgbClr val="323232"/>
              </a:solidFill>
              <a:latin typeface="Malgun Gothic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967543" y="1602607"/>
            <a:ext cx="2682561" cy="18263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257743" y="1797516"/>
            <a:ext cx="457200" cy="256032"/>
          </a:xfrm>
          <a:prstGeom prst="roundRect">
            <a:avLst/>
          </a:prstGeom>
          <a:solidFill>
            <a:srgbClr val="AA2A2A"/>
          </a:solidFill>
          <a:ln w="10160">
            <a:solidFill>
              <a:srgbClr val="A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9488" y="1785968"/>
            <a:ext cx="1499617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l"/>
            <a:r>
              <a:rPr sz="1360" b="1" dirty="0" err="1">
                <a:solidFill>
                  <a:srgbClr val="1E1E1E"/>
                </a:solidFill>
                <a:latin typeface="Malgun Gothic"/>
              </a:rPr>
              <a:t>포물선</a:t>
            </a:r>
            <a:r>
              <a:rPr sz="136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60" b="1" dirty="0" err="1">
                <a:solidFill>
                  <a:srgbClr val="1E1E1E"/>
                </a:solidFill>
                <a:latin typeface="Malgun Gothic"/>
              </a:rPr>
              <a:t>회전</a:t>
            </a:r>
            <a:r>
              <a:rPr sz="1360" b="1" dirty="0">
                <a:solidFill>
                  <a:srgbClr val="1E1E1E"/>
                </a:solidFill>
                <a:latin typeface="Malgun Gothic"/>
              </a:rPr>
              <a:t> </a:t>
            </a:r>
            <a:r>
              <a:rPr sz="1360" b="1" dirty="0" err="1">
                <a:solidFill>
                  <a:srgbClr val="1E1E1E"/>
                </a:solidFill>
                <a:latin typeface="Malgun Gothic"/>
              </a:rPr>
              <a:t>아치</a:t>
            </a:r>
            <a:endParaRPr sz="1360" b="1" dirty="0">
              <a:solidFill>
                <a:srgbClr val="1E1E1E"/>
              </a:solidFill>
              <a:latin typeface="Malgun Gothic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9226944" y="2224398"/>
            <a:ext cx="2194560" cy="0"/>
          </a:xfrm>
          <a:prstGeom prst="line">
            <a:avLst/>
          </a:prstGeom>
          <a:ln w="1016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226944" y="2343270"/>
            <a:ext cx="2194560" cy="347472"/>
          </a:xfrm>
          <a:prstGeom prst="roundRect">
            <a:avLst/>
          </a:prstGeom>
          <a:solidFill>
            <a:srgbClr val="F6E8E8"/>
          </a:solidFill>
          <a:ln w="10160">
            <a:solidFill>
              <a:srgbClr val="F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1080" b="1">
                <a:solidFill>
                  <a:srgbClr val="AA2A2A"/>
                </a:solidFill>
                <a:latin typeface="Malgun Gothic"/>
              </a:rPr>
              <a:t>취성 재료를 압축 중심으로 사용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39357" y="2712883"/>
            <a:ext cx="2343912" cy="4990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l"/>
            <a:r>
              <a:rPr sz="919" b="0" dirty="0">
                <a:solidFill>
                  <a:srgbClr val="323232"/>
                </a:solidFill>
                <a:latin typeface="Malgun Gothic"/>
              </a:rPr>
              <a:t>•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유황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콘크리트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등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현지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재료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적용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가능</a:t>
            </a:r>
            <a:endParaRPr lang="en-US" sz="919" b="0" dirty="0">
              <a:solidFill>
                <a:srgbClr val="323232"/>
              </a:solidFill>
              <a:latin typeface="Malgun Gothic"/>
            </a:endParaRPr>
          </a:p>
          <a:p>
            <a:pPr algn="l"/>
            <a:r>
              <a:rPr sz="919" b="0" dirty="0">
                <a:solidFill>
                  <a:srgbClr val="323232"/>
                </a:solidFill>
                <a:latin typeface="Malgun Gothic"/>
              </a:rPr>
              <a:t>
•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인장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응력을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줄이고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압축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응력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흐름</a:t>
            </a:r>
            <a:r>
              <a:rPr sz="919" b="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919" b="0" dirty="0" err="1">
                <a:solidFill>
                  <a:srgbClr val="323232"/>
                </a:solidFill>
                <a:latin typeface="Malgun Gothic"/>
              </a:rPr>
              <a:t>유도</a:t>
            </a:r>
            <a:endParaRPr sz="919" b="0" dirty="0">
              <a:solidFill>
                <a:srgbClr val="323232"/>
              </a:solidFill>
              <a:latin typeface="Malgun Gothic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D8629AA9-A65D-30EB-C0DF-6CC60258A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22135"/>
              </p:ext>
            </p:extLst>
          </p:nvPr>
        </p:nvGraphicFramePr>
        <p:xfrm>
          <a:off x="411481" y="3592457"/>
          <a:ext cx="2682560" cy="27478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82969">
                  <a:extLst>
                    <a:ext uri="{9D8B030D-6E8A-4147-A177-3AD203B41FA5}">
                      <a16:colId xmlns:a16="http://schemas.microsoft.com/office/drawing/2014/main" val="4025121636"/>
                    </a:ext>
                  </a:extLst>
                </a:gridCol>
                <a:gridCol w="1799591">
                  <a:extLst>
                    <a:ext uri="{9D8B030D-6E8A-4147-A177-3AD203B41FA5}">
                      <a16:colId xmlns:a16="http://schemas.microsoft.com/office/drawing/2014/main" val="3498358467"/>
                    </a:ext>
                  </a:extLst>
                </a:gridCol>
              </a:tblGrid>
              <a:tr h="3185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원통 외벽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Shell</a:t>
                      </a: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beam-column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349897"/>
                  </a:ext>
                </a:extLst>
              </a:tr>
              <a:tr h="3392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내부 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외벽과 별도 </a:t>
                      </a: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shell/beam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440053"/>
                  </a:ext>
                </a:extLst>
              </a:tr>
              <a:tr h="3392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층 바닥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 Rigid diaphragm</a:t>
                      </a: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shell/solid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 Beam grid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900132"/>
                  </a:ext>
                </a:extLst>
              </a:tr>
              <a:tr h="3392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지반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Fixed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 err="1">
                          <a:solidFill>
                            <a:sysClr val="windowText" lastClr="000000"/>
                          </a:solidFill>
                        </a:rPr>
                        <a:t>zeroLength</a:t>
                      </a: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 spring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 err="1">
                          <a:solidFill>
                            <a:sysClr val="windowText" lastClr="000000"/>
                          </a:solidFill>
                        </a:rPr>
                        <a:t>equalDOF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325716"/>
                  </a:ext>
                </a:extLst>
              </a:tr>
              <a:tr h="3392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내부 압력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Node load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Equivalent lateral load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532462"/>
                  </a:ext>
                </a:extLst>
              </a:tr>
              <a:tr h="5188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자중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gravity load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Nodal load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36275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96670DD8-1768-D36A-1EAC-864B3CA2C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74115"/>
              </p:ext>
            </p:extLst>
          </p:nvPr>
        </p:nvGraphicFramePr>
        <p:xfrm>
          <a:off x="3327779" y="3592456"/>
          <a:ext cx="2622947" cy="2975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049">
                  <a:extLst>
                    <a:ext uri="{9D8B030D-6E8A-4147-A177-3AD203B41FA5}">
                      <a16:colId xmlns:a16="http://schemas.microsoft.com/office/drawing/2014/main" val="3505703815"/>
                    </a:ext>
                  </a:extLst>
                </a:gridCol>
                <a:gridCol w="1646898">
                  <a:extLst>
                    <a:ext uri="{9D8B030D-6E8A-4147-A177-3AD203B41FA5}">
                      <a16:colId xmlns:a16="http://schemas.microsoft.com/office/drawing/2014/main" val="2166971430"/>
                    </a:ext>
                  </a:extLst>
                </a:gridCol>
              </a:tblGrid>
              <a:tr h="4006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ysClr val="windowText" lastClr="000000"/>
                          </a:solidFill>
                        </a:rPr>
                        <a:t>경사 격자 부재</a:t>
                      </a: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Truss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Beam-column element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688958"/>
                  </a:ext>
                </a:extLst>
              </a:tr>
              <a:tr h="4006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ysClr val="windowText" lastClr="000000"/>
                          </a:solidFill>
                        </a:rPr>
                        <a:t>후프</a:t>
                      </a:r>
                      <a:r>
                        <a:rPr lang="ko-KR" altLang="en-US" sz="900" b="1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900" b="1" dirty="0" err="1">
                          <a:solidFill>
                            <a:sysClr val="windowText" lastClr="000000"/>
                          </a:solidFill>
                        </a:rPr>
                        <a:t>보강재</a:t>
                      </a:r>
                      <a:endParaRPr lang="ko-KR" altLang="en-US" sz="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ysClr val="windowText" lastClr="000000"/>
                          </a:solidFill>
                        </a:rPr>
                        <a:t>원주 방향 </a:t>
                      </a: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beam-column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ysClr val="windowText" lastClr="000000"/>
                          </a:solidFill>
                        </a:rPr>
                        <a:t>원주 방향 </a:t>
                      </a: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truss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155035"/>
                  </a:ext>
                </a:extLst>
              </a:tr>
              <a:tr h="4006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ysClr val="windowText" lastClr="000000"/>
                          </a:solidFill>
                        </a:rPr>
                        <a:t>하부 기초 링</a:t>
                      </a: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Ring beam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Support constraint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5810"/>
                  </a:ext>
                </a:extLst>
              </a:tr>
              <a:tr h="4006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ysClr val="windowText" lastClr="000000"/>
                          </a:solidFill>
                        </a:rPr>
                        <a:t>외피층</a:t>
                      </a:r>
                      <a:endParaRPr lang="ko-KR" altLang="en-US" sz="9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Shell </a:t>
                      </a:r>
                      <a:r>
                        <a:rPr lang="ko-KR" altLang="en-US" sz="9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endParaRPr lang="en-US" altLang="ko-KR" sz="9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Equivalent mass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716435"/>
                  </a:ext>
                </a:extLst>
              </a:tr>
              <a:tr h="4006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ysClr val="windowText" lastClr="000000"/>
                          </a:solidFill>
                        </a:rPr>
                        <a:t>내부 압력</a:t>
                      </a: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-  radial nodal load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38783"/>
                  </a:ext>
                </a:extLst>
              </a:tr>
              <a:tr h="4860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ysClr val="windowText" lastClr="000000"/>
                          </a:solidFill>
                        </a:rPr>
                        <a:t>보강재</a:t>
                      </a:r>
                      <a:r>
                        <a:rPr lang="ko-KR" altLang="en-US" sz="900" b="1" dirty="0">
                          <a:solidFill>
                            <a:sysClr val="windowText" lastClr="000000"/>
                          </a:solidFill>
                        </a:rPr>
                        <a:t> 재료</a:t>
                      </a: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Elastic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Steel 01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 err="1">
                          <a:solidFill>
                            <a:sysClr val="windowText" lastClr="000000"/>
                          </a:solidFill>
                        </a:rPr>
                        <a:t>uniaxualMaterial</a:t>
                      </a:r>
                      <a:endParaRPr lang="ko-KR" altLang="en-US" sz="9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3018"/>
                  </a:ext>
                </a:extLst>
              </a:tr>
              <a:tr h="4860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ysClr val="windowText" lastClr="000000"/>
                          </a:solidFill>
                        </a:rPr>
                        <a:t>레골리스</a:t>
                      </a:r>
                      <a:r>
                        <a:rPr lang="ko-KR" altLang="en-US" sz="900" b="1" dirty="0">
                          <a:solidFill>
                            <a:sysClr val="windowText" lastClr="000000"/>
                          </a:solidFill>
                        </a:rPr>
                        <a:t> 벽체</a:t>
                      </a: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 err="1">
                          <a:solidFill>
                            <a:sysClr val="windowText" lastClr="000000"/>
                          </a:solidFill>
                        </a:rPr>
                        <a:t>nDMaterial</a:t>
                      </a:r>
                      <a:endParaRPr lang="en-US" altLang="ko-KR" sz="9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Shell/solid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ysClr val="windowText" lastClr="000000"/>
                          </a:solidFill>
                        </a:rPr>
                        <a:t>등가 </a:t>
                      </a:r>
                      <a:r>
                        <a:rPr lang="en-US" altLang="ko-KR" sz="900" b="0" dirty="0">
                          <a:solidFill>
                            <a:sysClr val="windowText" lastClr="000000"/>
                          </a:solidFill>
                        </a:rPr>
                        <a:t>material</a:t>
                      </a:r>
                    </a:p>
                  </a:txBody>
                  <a:tcPr marL="74577" marR="74577" marT="37288" marB="37288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561802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062EA49C-2970-1B70-C864-9EDA2FFC0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594311"/>
              </p:ext>
            </p:extLst>
          </p:nvPr>
        </p:nvGraphicFramePr>
        <p:xfrm>
          <a:off x="6141399" y="3592457"/>
          <a:ext cx="2682561" cy="297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917">
                  <a:extLst>
                    <a:ext uri="{9D8B030D-6E8A-4147-A177-3AD203B41FA5}">
                      <a16:colId xmlns:a16="http://schemas.microsoft.com/office/drawing/2014/main" val="3505703815"/>
                    </a:ext>
                  </a:extLst>
                </a:gridCol>
                <a:gridCol w="1845644">
                  <a:extLst>
                    <a:ext uri="{9D8B030D-6E8A-4147-A177-3AD203B41FA5}">
                      <a16:colId xmlns:a16="http://schemas.microsoft.com/office/drawing/2014/main" val="2166971430"/>
                    </a:ext>
                  </a:extLst>
                </a:gridCol>
              </a:tblGrid>
              <a:tr h="42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삼각 프레임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 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truss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" sz="1000" b="0" dirty="0" err="1">
                          <a:solidFill>
                            <a:sysClr val="windowText" lastClr="000000"/>
                          </a:solidFill>
                        </a:rPr>
                        <a:t>elasticBeamColumn</a:t>
                      </a:r>
                      <a:endParaRPr lang="en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155035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노드 조인트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 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핀 접합이면 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truss</a:t>
                      </a:r>
                    </a:p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en" altLang="ko-KR" sz="10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ysClr val="windowText" lastClr="000000"/>
                          </a:solidFill>
                        </a:rPr>
                        <a:t>강접합이면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beam-column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5810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내부 </a:t>
                      </a: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공기막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내부 압력 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load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로 단순화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716435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외부 </a:t>
                      </a: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멤브레인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 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shell 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endParaRPr lang="en-US" altLang="ko-KR" sz="1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 등가 질량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38783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링 기초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 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원형 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ring beam</a:t>
                      </a:r>
                    </a:p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 하부 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node fix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3018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앵커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하부 </a:t>
                      </a:r>
                      <a:r>
                        <a:rPr lang="en" altLang="ko-KR" sz="1000" b="0" dirty="0">
                          <a:solidFill>
                            <a:sysClr val="windowText" lastClr="000000"/>
                          </a:solidFill>
                        </a:rPr>
                        <a:t>node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의 </a:t>
                      </a:r>
                      <a:r>
                        <a:rPr lang="en" altLang="ko-KR" sz="1000" b="0" dirty="0">
                          <a:solidFill>
                            <a:sysClr val="windowText" lastClr="000000"/>
                          </a:solidFill>
                        </a:rPr>
                        <a:t>uplift </a:t>
                      </a: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방향 </a:t>
                      </a:r>
                      <a:r>
                        <a:rPr lang="en" altLang="ko-KR" sz="1000" b="0" dirty="0">
                          <a:solidFill>
                            <a:sysClr val="windowText" lastClr="000000"/>
                          </a:solidFill>
                        </a:rPr>
                        <a:t>fix/spring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3235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레골리스</a:t>
                      </a: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 덮개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ysClr val="windowText" lastClr="000000"/>
                          </a:solidFill>
                        </a:rPr>
                        <a:t>- 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Vertical load</a:t>
                      </a:r>
                    </a:p>
                    <a:p>
                      <a:pPr>
                        <a:buNone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- Mass </a:t>
                      </a:r>
                      <a:r>
                        <a:rPr lang="en" sz="1000" b="0" dirty="0" err="1">
                          <a:solidFill>
                            <a:sysClr val="windowText" lastClr="000000"/>
                          </a:solidFill>
                        </a:rPr>
                        <a:t>증가</a:t>
                      </a:r>
                      <a:endParaRPr lang="en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855584"/>
                  </a:ext>
                </a:extLst>
              </a:tr>
            </a:tbl>
          </a:graphicData>
        </a:graphic>
      </p:graphicFrame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AD5C86BE-83F3-934B-9C86-2BC2F1DAB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942531"/>
              </p:ext>
            </p:extLst>
          </p:nvPr>
        </p:nvGraphicFramePr>
        <p:xfrm>
          <a:off x="9014633" y="3592457"/>
          <a:ext cx="2988070" cy="297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125">
                  <a:extLst>
                    <a:ext uri="{9D8B030D-6E8A-4147-A177-3AD203B41FA5}">
                      <a16:colId xmlns:a16="http://schemas.microsoft.com/office/drawing/2014/main" val="3505703815"/>
                    </a:ext>
                  </a:extLst>
                </a:gridCol>
                <a:gridCol w="1799945">
                  <a:extLst>
                    <a:ext uri="{9D8B030D-6E8A-4147-A177-3AD203B41FA5}">
                      <a16:colId xmlns:a16="http://schemas.microsoft.com/office/drawing/2014/main" val="2166971430"/>
                    </a:ext>
                  </a:extLst>
                </a:gridCol>
              </a:tblGrid>
              <a:tr h="247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포물선 아치 </a:t>
                      </a: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리브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beam-column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61066"/>
                  </a:ext>
                </a:extLst>
              </a:tr>
              <a:tr h="402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회전 쉘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여러 개의 아치 </a:t>
                      </a:r>
                      <a:r>
                        <a:rPr lang="ko-KR" altLang="en-US" sz="1000" b="0" dirty="0" err="1">
                          <a:solidFill>
                            <a:sysClr val="windowText" lastClr="000000"/>
                          </a:solidFill>
                        </a:rPr>
                        <a:t>리브</a:t>
                      </a:r>
                      <a:endParaRPr lang="en-US" altLang="ko-KR" sz="1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1000" b="0" dirty="0">
                          <a:solidFill>
                            <a:sysClr val="windowText" lastClr="000000"/>
                          </a:solidFill>
                        </a:rPr>
                        <a:t>원주 방향 </a:t>
                      </a:r>
                      <a:r>
                        <a:rPr lang="ko-KR" altLang="en-US" sz="1000" b="0" dirty="0" err="1">
                          <a:solidFill>
                            <a:sysClr val="windowText" lastClr="000000"/>
                          </a:solidFill>
                        </a:rPr>
                        <a:t>연결부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155035"/>
                  </a:ext>
                </a:extLst>
              </a:tr>
              <a:tr h="402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측면 </a:t>
                      </a: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지지부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support node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fix/spring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5810"/>
                  </a:ext>
                </a:extLst>
              </a:tr>
              <a:tr h="557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바닥 </a:t>
                      </a: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슬래브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beam grid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Shell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rigid diaphragm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716435"/>
                  </a:ext>
                </a:extLst>
              </a:tr>
              <a:tr h="557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기초부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Fixed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Pinned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 err="1">
                          <a:solidFill>
                            <a:sysClr val="windowText" lastClr="000000"/>
                          </a:solidFill>
                        </a:rPr>
                        <a:t>zeroLength</a:t>
                      </a: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 spring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38783"/>
                  </a:ext>
                </a:extLst>
              </a:tr>
              <a:tr h="402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취성</a:t>
                      </a: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 재료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Elastic </a:t>
                      </a:r>
                      <a:r>
                        <a:rPr lang="en" altLang="ko-KR" sz="1000" b="0" dirty="0">
                          <a:solidFill>
                            <a:sysClr val="windowText" lastClr="000000"/>
                          </a:solidFill>
                        </a:rPr>
                        <a:t>material</a:t>
                      </a:r>
                      <a:endParaRPr lang="en" sz="1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Concrete material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3018"/>
                  </a:ext>
                </a:extLst>
              </a:tr>
              <a:tr h="402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 err="1">
                          <a:solidFill>
                            <a:sysClr val="windowText" lastClr="000000"/>
                          </a:solidFill>
                        </a:rPr>
                        <a:t>차폐층</a:t>
                      </a:r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</a:rPr>
                        <a:t> 하중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distributed load</a:t>
                      </a:r>
                      <a:endParaRPr lang="en-US" altLang="ko-KR" sz="1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" sz="1000" b="0" dirty="0">
                          <a:solidFill>
                            <a:sysClr val="windowText" lastClr="000000"/>
                          </a:solidFill>
                        </a:rPr>
                        <a:t>nodal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5618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3">
            <a:extLst>
              <a:ext uri="{FF2B5EF4-FFF2-40B4-BE49-F238E27FC236}">
                <a16:creationId xmlns:a16="http://schemas.microsoft.com/office/drawing/2014/main" id="{C7812F8E-82AA-B6C6-288E-804AADDBC2BE}"/>
              </a:ext>
            </a:extLst>
          </p:cNvPr>
          <p:cNvSpPr/>
          <p:nvPr/>
        </p:nvSpPr>
        <p:spPr>
          <a:xfrm>
            <a:off x="6516624" y="2240280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4" name="Shape 13">
            <a:extLst>
              <a:ext uri="{FF2B5EF4-FFF2-40B4-BE49-F238E27FC236}">
                <a16:creationId xmlns:a16="http://schemas.microsoft.com/office/drawing/2014/main" id="{1F7FB973-7D5B-2964-573B-9200C36D5A82}"/>
              </a:ext>
            </a:extLst>
          </p:cNvPr>
          <p:cNvSpPr/>
          <p:nvPr/>
        </p:nvSpPr>
        <p:spPr>
          <a:xfrm>
            <a:off x="6516624" y="2873643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5" name="Shape 13">
            <a:extLst>
              <a:ext uri="{FF2B5EF4-FFF2-40B4-BE49-F238E27FC236}">
                <a16:creationId xmlns:a16="http://schemas.microsoft.com/office/drawing/2014/main" id="{8E9DC4BB-81C7-0668-0C3D-F4C331C23FF7}"/>
              </a:ext>
            </a:extLst>
          </p:cNvPr>
          <p:cNvSpPr/>
          <p:nvPr/>
        </p:nvSpPr>
        <p:spPr>
          <a:xfrm>
            <a:off x="6516624" y="3507006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6" name="Shape 13">
            <a:extLst>
              <a:ext uri="{FF2B5EF4-FFF2-40B4-BE49-F238E27FC236}">
                <a16:creationId xmlns:a16="http://schemas.microsoft.com/office/drawing/2014/main" id="{279FCB48-4BE8-86F6-A408-66CB388494A8}"/>
              </a:ext>
            </a:extLst>
          </p:cNvPr>
          <p:cNvSpPr/>
          <p:nvPr/>
        </p:nvSpPr>
        <p:spPr>
          <a:xfrm>
            <a:off x="6503236" y="4140369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7" name="Shape 13">
            <a:extLst>
              <a:ext uri="{FF2B5EF4-FFF2-40B4-BE49-F238E27FC236}">
                <a16:creationId xmlns:a16="http://schemas.microsoft.com/office/drawing/2014/main" id="{8D71FF3A-8C52-ED4E-4500-153EB236CB6F}"/>
              </a:ext>
            </a:extLst>
          </p:cNvPr>
          <p:cNvSpPr/>
          <p:nvPr/>
        </p:nvSpPr>
        <p:spPr>
          <a:xfrm>
            <a:off x="6494690" y="4773732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8" name="Shape 13">
            <a:extLst>
              <a:ext uri="{FF2B5EF4-FFF2-40B4-BE49-F238E27FC236}">
                <a16:creationId xmlns:a16="http://schemas.microsoft.com/office/drawing/2014/main" id="{DC45A7B9-C4B2-6F60-D934-C25556C86E44}"/>
              </a:ext>
            </a:extLst>
          </p:cNvPr>
          <p:cNvSpPr/>
          <p:nvPr/>
        </p:nvSpPr>
        <p:spPr>
          <a:xfrm>
            <a:off x="6486144" y="5407095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9" name="Shape 13">
            <a:extLst>
              <a:ext uri="{FF2B5EF4-FFF2-40B4-BE49-F238E27FC236}">
                <a16:creationId xmlns:a16="http://schemas.microsoft.com/office/drawing/2014/main" id="{4CA330CD-743A-9B42-A4AD-750CBCAB53D7}"/>
              </a:ext>
            </a:extLst>
          </p:cNvPr>
          <p:cNvSpPr/>
          <p:nvPr/>
        </p:nvSpPr>
        <p:spPr>
          <a:xfrm>
            <a:off x="6486144" y="6040457"/>
            <a:ext cx="5254752" cy="61874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1648" y="2240280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7" name="Shape 13">
            <a:extLst>
              <a:ext uri="{FF2B5EF4-FFF2-40B4-BE49-F238E27FC236}">
                <a16:creationId xmlns:a16="http://schemas.microsoft.com/office/drawing/2014/main" id="{D6B0D6CA-B474-9BF7-01D2-3A39312F3743}"/>
              </a:ext>
            </a:extLst>
          </p:cNvPr>
          <p:cNvSpPr/>
          <p:nvPr/>
        </p:nvSpPr>
        <p:spPr>
          <a:xfrm>
            <a:off x="231648" y="2873643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8" name="Shape 13">
            <a:extLst>
              <a:ext uri="{FF2B5EF4-FFF2-40B4-BE49-F238E27FC236}">
                <a16:creationId xmlns:a16="http://schemas.microsoft.com/office/drawing/2014/main" id="{E5D0408A-9AB5-5AF8-C828-74E84343E765}"/>
              </a:ext>
            </a:extLst>
          </p:cNvPr>
          <p:cNvSpPr/>
          <p:nvPr/>
        </p:nvSpPr>
        <p:spPr>
          <a:xfrm>
            <a:off x="231648" y="3507006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9" name="Shape 13">
            <a:extLst>
              <a:ext uri="{FF2B5EF4-FFF2-40B4-BE49-F238E27FC236}">
                <a16:creationId xmlns:a16="http://schemas.microsoft.com/office/drawing/2014/main" id="{FBC6AF90-2823-74E7-1704-4A598548F6E3}"/>
              </a:ext>
            </a:extLst>
          </p:cNvPr>
          <p:cNvSpPr/>
          <p:nvPr/>
        </p:nvSpPr>
        <p:spPr>
          <a:xfrm>
            <a:off x="201168" y="4140369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0" name="Shape 13">
            <a:extLst>
              <a:ext uri="{FF2B5EF4-FFF2-40B4-BE49-F238E27FC236}">
                <a16:creationId xmlns:a16="http://schemas.microsoft.com/office/drawing/2014/main" id="{B4B94732-4CFB-4D5A-DDD1-897C02BD4621}"/>
              </a:ext>
            </a:extLst>
          </p:cNvPr>
          <p:cNvSpPr/>
          <p:nvPr/>
        </p:nvSpPr>
        <p:spPr>
          <a:xfrm>
            <a:off x="201168" y="4773732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B444A8D3-8932-01C4-1D6E-1A94D6D0226C}"/>
              </a:ext>
            </a:extLst>
          </p:cNvPr>
          <p:cNvSpPr/>
          <p:nvPr/>
        </p:nvSpPr>
        <p:spPr>
          <a:xfrm>
            <a:off x="201168" y="5407095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2" name="Shape 13">
            <a:extLst>
              <a:ext uri="{FF2B5EF4-FFF2-40B4-BE49-F238E27FC236}">
                <a16:creationId xmlns:a16="http://schemas.microsoft.com/office/drawing/2014/main" id="{C846FE8D-58F3-83B1-79AC-F38A857DC28E}"/>
              </a:ext>
            </a:extLst>
          </p:cNvPr>
          <p:cNvSpPr/>
          <p:nvPr/>
        </p:nvSpPr>
        <p:spPr>
          <a:xfrm>
            <a:off x="201168" y="6040457"/>
            <a:ext cx="5254752" cy="61874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" name="Text 0"/>
          <p:cNvSpPr/>
          <p:nvPr/>
        </p:nvSpPr>
        <p:spPr>
          <a:xfrm>
            <a:off x="302768" y="188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1학기 로드맵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47136" y="289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6B77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OpenSeesPy 학습·모델링과 가상환경 생성 병행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5321808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9184" y="84531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DDE7FF"/>
          </a:solidFill>
          <a:ln w="12700">
            <a:solidFill>
              <a:srgbClr val="DDE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9184" y="8453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1-2주차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78128" y="8554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및 사용 프로그램 결정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165352"/>
            <a:ext cx="4330192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5B8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000" dirty="0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</a:t>
            </a:r>
            <a:r>
              <a:rPr lang="en-US" sz="1000" dirty="0" err="1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r>
              <a:rPr lang="en-US" sz="1000" dirty="0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000" dirty="0">
              <a:solidFill>
                <a:srgbClr val="62718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sz="1000" b="1" dirty="0">
                <a:solidFill>
                  <a:srgbClr val="5B8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000" dirty="0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CATIA / Abaqus / ANSYS / </a:t>
            </a:r>
            <a:r>
              <a:rPr lang="en-US" altLang="ko-KR" sz="1000" dirty="0" err="1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OpenSeesPy</a:t>
            </a:r>
            <a:r>
              <a:rPr lang="en-US" altLang="ko-KR" sz="1000" dirty="0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r>
              <a:rPr lang="en-US" altLang="ko-KR" sz="1000" dirty="0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627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altLang="ko-KR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847088"/>
            <a:ext cx="5321808" cy="347472"/>
          </a:xfrm>
          <a:prstGeom prst="roundRect">
            <a:avLst>
              <a:gd name="adj" fmla="val 21053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87568" y="1847088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92240" y="1847088"/>
            <a:ext cx="5468112" cy="347472"/>
          </a:xfrm>
          <a:prstGeom prst="roundRect">
            <a:avLst>
              <a:gd name="adj" fmla="val 21053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19263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OpenSeesPy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69864" y="1924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78D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동시 진행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5120" y="1916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 생성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0896" y="2331720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10896" y="23418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3주차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8128" y="23576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OpenSeesPy 전체 코드 구조 파악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4048" y="259689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모델링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+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위한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OpenSeesPy의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전체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코드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흐름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이해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43800" y="2355571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 구축 방향 설정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5120" y="2644785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지구와 화성 환경 비교에 필요한 항목 정리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9864" y="2354072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9864" y="23540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10896" y="2935224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10896" y="2955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4주차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80160" y="2959185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Model 커맨드 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90144" y="323697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모델링을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위한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node · element · fix ·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equalDOF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등의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기본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커맨드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690360" y="325673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모델링에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대한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최근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연구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동향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파악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OPenSeesPy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에서의 모델링 사례 조사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769864" y="2999232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769864" y="299923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10896" y="3569208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10896" y="35895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5주차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270000" y="359122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Material / Section 커맨드 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79984" y="387705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구성요소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모델링을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위한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세부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커맨드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(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uniaxialMaterial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· section)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690360" y="3881686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화성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환경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연구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사례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조사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모델링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방향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설계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769864" y="3652520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769864" y="365252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10896" y="4211575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10896" y="42235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6주차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259840" y="4235959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하중 · 질량 · 시간입력 명령 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00304" y="451713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mass · load · timeSeries · pattern 적용과 응답 변화 확인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675120" y="4516065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동적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거동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파악을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위한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지진파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동적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하중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데이터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경계 조건 데이터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수집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769864" y="4256024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769864" y="42560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10896" y="4847336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10896" y="48574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7주차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80160" y="48705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 · 출력 명령 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20624" y="515721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constraints · numberer · system · algorithm · recorder 정리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675120" y="5145929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내용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수집한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데이터를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바탕으로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재료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정의까지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OpenSeespy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코드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작성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5769864" y="4910328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5769864" y="49103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310896" y="54782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310896" y="54914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A3E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8주차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239520" y="5505113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시험주 복습 및 코드 정리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420624" y="579729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4B4CC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기존 예제 재실행 · 주석 보완 · 미이해 커맨드 정리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565136" y="551561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시험주 정리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675120" y="5785866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4B4CC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부족한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데이터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파악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시간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의존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변수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설계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5769864" y="5534152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5769864" y="55341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A3E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310896" y="6125801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EAE2FB"/>
          </a:solidFill>
          <a:ln w="12700">
            <a:solidFill>
              <a:srgbClr val="EAE2FB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310896" y="61356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9주차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1239520" y="61498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동적해석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핵심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명령어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(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)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420624" y="643737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5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constraints 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· algorithm · integrator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등의 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analysis command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7585456" y="61600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– </a:t>
            </a:r>
            <a:r>
              <a:rPr lang="ko-KR" alt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 설계 방식 조사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6675120" y="6440593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–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 연결 방식 연구사례 조사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5769864" y="6157976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5769864" y="61579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0" name="Shape 15">
            <a:extLst>
              <a:ext uri="{FF2B5EF4-FFF2-40B4-BE49-F238E27FC236}">
                <a16:creationId xmlns:a16="http://schemas.microsoft.com/office/drawing/2014/main" id="{AE2BAC08-298C-D23F-D289-841D50972FA7}"/>
              </a:ext>
            </a:extLst>
          </p:cNvPr>
          <p:cNvSpPr/>
          <p:nvPr/>
        </p:nvSpPr>
        <p:spPr>
          <a:xfrm>
            <a:off x="6612128" y="2331720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1" name="Text 17">
            <a:extLst>
              <a:ext uri="{FF2B5EF4-FFF2-40B4-BE49-F238E27FC236}">
                <a16:creationId xmlns:a16="http://schemas.microsoft.com/office/drawing/2014/main" id="{6645CF3C-EF1E-EA1C-0389-0C95EE5965BA}"/>
              </a:ext>
            </a:extLst>
          </p:cNvPr>
          <p:cNvSpPr/>
          <p:nvPr/>
        </p:nvSpPr>
        <p:spPr>
          <a:xfrm>
            <a:off x="6612128" y="23418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3주차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2" name="Shape 27">
            <a:extLst>
              <a:ext uri="{FF2B5EF4-FFF2-40B4-BE49-F238E27FC236}">
                <a16:creationId xmlns:a16="http://schemas.microsoft.com/office/drawing/2014/main" id="{F5E121E9-6E79-8DD9-F661-D869C13C5E03}"/>
              </a:ext>
            </a:extLst>
          </p:cNvPr>
          <p:cNvSpPr/>
          <p:nvPr/>
        </p:nvSpPr>
        <p:spPr>
          <a:xfrm>
            <a:off x="6612128" y="2946375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3" name="Text 29">
            <a:extLst>
              <a:ext uri="{FF2B5EF4-FFF2-40B4-BE49-F238E27FC236}">
                <a16:creationId xmlns:a16="http://schemas.microsoft.com/office/drawing/2014/main" id="{5249D7AA-1245-7BC8-546A-E250B3C76823}"/>
              </a:ext>
            </a:extLst>
          </p:cNvPr>
          <p:cNvSpPr/>
          <p:nvPr/>
        </p:nvSpPr>
        <p:spPr>
          <a:xfrm>
            <a:off x="6612128" y="2966695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4주차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4" name="Shape 39">
            <a:extLst>
              <a:ext uri="{FF2B5EF4-FFF2-40B4-BE49-F238E27FC236}">
                <a16:creationId xmlns:a16="http://schemas.microsoft.com/office/drawing/2014/main" id="{FA27EA2E-7F36-22D0-2C4C-1242ACE43E3B}"/>
              </a:ext>
            </a:extLst>
          </p:cNvPr>
          <p:cNvSpPr/>
          <p:nvPr/>
        </p:nvSpPr>
        <p:spPr>
          <a:xfrm>
            <a:off x="6612128" y="3579368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5" name="Text 41">
            <a:extLst>
              <a:ext uri="{FF2B5EF4-FFF2-40B4-BE49-F238E27FC236}">
                <a16:creationId xmlns:a16="http://schemas.microsoft.com/office/drawing/2014/main" id="{58DC3175-9677-B7FC-1946-CDFD059CC3AD}"/>
              </a:ext>
            </a:extLst>
          </p:cNvPr>
          <p:cNvSpPr/>
          <p:nvPr/>
        </p:nvSpPr>
        <p:spPr>
          <a:xfrm>
            <a:off x="6612128" y="359968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5주차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6" name="Shape 51">
            <a:extLst>
              <a:ext uri="{FF2B5EF4-FFF2-40B4-BE49-F238E27FC236}">
                <a16:creationId xmlns:a16="http://schemas.microsoft.com/office/drawing/2014/main" id="{D662C07B-33A0-A9BE-5C41-95EA8F86FD5D}"/>
              </a:ext>
            </a:extLst>
          </p:cNvPr>
          <p:cNvSpPr/>
          <p:nvPr/>
        </p:nvSpPr>
        <p:spPr>
          <a:xfrm>
            <a:off x="6612128" y="4211575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7" name="Text 53">
            <a:extLst>
              <a:ext uri="{FF2B5EF4-FFF2-40B4-BE49-F238E27FC236}">
                <a16:creationId xmlns:a16="http://schemas.microsoft.com/office/drawing/2014/main" id="{FA3CCDB8-EA16-9037-A034-9C1A75AA0941}"/>
              </a:ext>
            </a:extLst>
          </p:cNvPr>
          <p:cNvSpPr/>
          <p:nvPr/>
        </p:nvSpPr>
        <p:spPr>
          <a:xfrm>
            <a:off x="6612128" y="42235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6주차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8" name="Shape 63">
            <a:extLst>
              <a:ext uri="{FF2B5EF4-FFF2-40B4-BE49-F238E27FC236}">
                <a16:creationId xmlns:a16="http://schemas.microsoft.com/office/drawing/2014/main" id="{ED6E313D-8CFA-DCAF-46C8-A610D83AFF36}"/>
              </a:ext>
            </a:extLst>
          </p:cNvPr>
          <p:cNvSpPr/>
          <p:nvPr/>
        </p:nvSpPr>
        <p:spPr>
          <a:xfrm>
            <a:off x="6612128" y="4847336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9" name="Text 65">
            <a:extLst>
              <a:ext uri="{FF2B5EF4-FFF2-40B4-BE49-F238E27FC236}">
                <a16:creationId xmlns:a16="http://schemas.microsoft.com/office/drawing/2014/main" id="{E2E8382F-35FA-B809-073D-0F8B0664CD06}"/>
              </a:ext>
            </a:extLst>
          </p:cNvPr>
          <p:cNvSpPr/>
          <p:nvPr/>
        </p:nvSpPr>
        <p:spPr>
          <a:xfrm>
            <a:off x="6612128" y="48574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7주차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0" name="Shape 75">
            <a:extLst>
              <a:ext uri="{FF2B5EF4-FFF2-40B4-BE49-F238E27FC236}">
                <a16:creationId xmlns:a16="http://schemas.microsoft.com/office/drawing/2014/main" id="{8BD682E6-E215-7A67-E163-1D208FFA6663}"/>
              </a:ext>
            </a:extLst>
          </p:cNvPr>
          <p:cNvSpPr/>
          <p:nvPr/>
        </p:nvSpPr>
        <p:spPr>
          <a:xfrm>
            <a:off x="6612128" y="54782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1" name="Text 77">
            <a:extLst>
              <a:ext uri="{FF2B5EF4-FFF2-40B4-BE49-F238E27FC236}">
                <a16:creationId xmlns:a16="http://schemas.microsoft.com/office/drawing/2014/main" id="{B957B6F0-6AEB-2986-84DB-8763BC588319}"/>
              </a:ext>
            </a:extLst>
          </p:cNvPr>
          <p:cNvSpPr/>
          <p:nvPr/>
        </p:nvSpPr>
        <p:spPr>
          <a:xfrm>
            <a:off x="6612128" y="54914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A3E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8주차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2" name="Shape 87">
            <a:extLst>
              <a:ext uri="{FF2B5EF4-FFF2-40B4-BE49-F238E27FC236}">
                <a16:creationId xmlns:a16="http://schemas.microsoft.com/office/drawing/2014/main" id="{F7E33399-C4A9-AB09-7E02-36429B2C3F19}"/>
              </a:ext>
            </a:extLst>
          </p:cNvPr>
          <p:cNvSpPr/>
          <p:nvPr/>
        </p:nvSpPr>
        <p:spPr>
          <a:xfrm>
            <a:off x="6612128" y="6125801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EAE2FB"/>
          </a:solidFill>
          <a:ln w="12700">
            <a:solidFill>
              <a:srgbClr val="EAE2FB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3" name="Text 89">
            <a:extLst>
              <a:ext uri="{FF2B5EF4-FFF2-40B4-BE49-F238E27FC236}">
                <a16:creationId xmlns:a16="http://schemas.microsoft.com/office/drawing/2014/main" id="{D80B456D-F3BD-5BC1-AF1A-AAE91A365CD8}"/>
              </a:ext>
            </a:extLst>
          </p:cNvPr>
          <p:cNvSpPr/>
          <p:nvPr/>
        </p:nvSpPr>
        <p:spPr>
          <a:xfrm>
            <a:off x="6612128" y="61356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9주차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4108A781-C609-F964-0D44-94F312642C47}"/>
              </a:ext>
            </a:extLst>
          </p:cNvPr>
          <p:cNvSpPr/>
          <p:nvPr/>
        </p:nvSpPr>
        <p:spPr>
          <a:xfrm>
            <a:off x="7565136" y="2965497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 구축 방향 설정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B4FB74A8-DB31-A2AE-74AF-8857084E9296}"/>
              </a:ext>
            </a:extLst>
          </p:cNvPr>
          <p:cNvSpPr/>
          <p:nvPr/>
        </p:nvSpPr>
        <p:spPr>
          <a:xfrm>
            <a:off x="7565136" y="361154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 구축 방향 설정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23EA819-79BC-9C3C-E26F-8F670EF007FE}"/>
              </a:ext>
            </a:extLst>
          </p:cNvPr>
          <p:cNvSpPr/>
          <p:nvPr/>
        </p:nvSpPr>
        <p:spPr>
          <a:xfrm>
            <a:off x="7552346" y="4250295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 구축 방향 설정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43BAFF6F-948A-47E2-9E2A-FD1785D64F46}"/>
              </a:ext>
            </a:extLst>
          </p:cNvPr>
          <p:cNvSpPr/>
          <p:nvPr/>
        </p:nvSpPr>
        <p:spPr>
          <a:xfrm>
            <a:off x="7543800" y="4884993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지구 지반 모델링 코드 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r>
              <a:rPr lang="ko-KR" alt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차 작성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DB52A-7105-53A1-E602-23549F897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">
            <a:extLst>
              <a:ext uri="{FF2B5EF4-FFF2-40B4-BE49-F238E27FC236}">
                <a16:creationId xmlns:a16="http://schemas.microsoft.com/office/drawing/2014/main" id="{6BCFBE73-3217-60B7-EDD0-A98E1DACD388}"/>
              </a:ext>
            </a:extLst>
          </p:cNvPr>
          <p:cNvSpPr/>
          <p:nvPr/>
        </p:nvSpPr>
        <p:spPr>
          <a:xfrm>
            <a:off x="231648" y="2240280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7" name="Shape 13">
            <a:extLst>
              <a:ext uri="{FF2B5EF4-FFF2-40B4-BE49-F238E27FC236}">
                <a16:creationId xmlns:a16="http://schemas.microsoft.com/office/drawing/2014/main" id="{2121FCFB-C59F-63DB-92F8-BBE0C3203A0B}"/>
              </a:ext>
            </a:extLst>
          </p:cNvPr>
          <p:cNvSpPr/>
          <p:nvPr/>
        </p:nvSpPr>
        <p:spPr>
          <a:xfrm>
            <a:off x="231648" y="2873643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8" name="Shape 13">
            <a:extLst>
              <a:ext uri="{FF2B5EF4-FFF2-40B4-BE49-F238E27FC236}">
                <a16:creationId xmlns:a16="http://schemas.microsoft.com/office/drawing/2014/main" id="{1A18E60C-63CB-20EC-5B30-27F19CD6A860}"/>
              </a:ext>
            </a:extLst>
          </p:cNvPr>
          <p:cNvSpPr/>
          <p:nvPr/>
        </p:nvSpPr>
        <p:spPr>
          <a:xfrm>
            <a:off x="231648" y="3507006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9" name="Shape 13">
            <a:extLst>
              <a:ext uri="{FF2B5EF4-FFF2-40B4-BE49-F238E27FC236}">
                <a16:creationId xmlns:a16="http://schemas.microsoft.com/office/drawing/2014/main" id="{7A54E573-5EB3-FD77-4016-65D8443D6E72}"/>
              </a:ext>
            </a:extLst>
          </p:cNvPr>
          <p:cNvSpPr/>
          <p:nvPr/>
        </p:nvSpPr>
        <p:spPr>
          <a:xfrm>
            <a:off x="201168" y="4140369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0" name="Shape 13">
            <a:extLst>
              <a:ext uri="{FF2B5EF4-FFF2-40B4-BE49-F238E27FC236}">
                <a16:creationId xmlns:a16="http://schemas.microsoft.com/office/drawing/2014/main" id="{8D989033-C4F0-0852-231C-B224095940E6}"/>
              </a:ext>
            </a:extLst>
          </p:cNvPr>
          <p:cNvSpPr/>
          <p:nvPr/>
        </p:nvSpPr>
        <p:spPr>
          <a:xfrm>
            <a:off x="201168" y="4773732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1C558851-9920-8AB9-BC27-6F8F775EF0B2}"/>
              </a:ext>
            </a:extLst>
          </p:cNvPr>
          <p:cNvSpPr/>
          <p:nvPr/>
        </p:nvSpPr>
        <p:spPr>
          <a:xfrm>
            <a:off x="201168" y="5407095"/>
            <a:ext cx="5254752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2" name="Shape 13">
            <a:extLst>
              <a:ext uri="{FF2B5EF4-FFF2-40B4-BE49-F238E27FC236}">
                <a16:creationId xmlns:a16="http://schemas.microsoft.com/office/drawing/2014/main" id="{D8002E24-2640-89FD-E481-BD52317A784B}"/>
              </a:ext>
            </a:extLst>
          </p:cNvPr>
          <p:cNvSpPr/>
          <p:nvPr/>
        </p:nvSpPr>
        <p:spPr>
          <a:xfrm>
            <a:off x="201168" y="6040457"/>
            <a:ext cx="5254752" cy="61874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72F25C3-155D-0DD4-481D-1261D8C0B580}"/>
              </a:ext>
            </a:extLst>
          </p:cNvPr>
          <p:cNvSpPr/>
          <p:nvPr/>
        </p:nvSpPr>
        <p:spPr>
          <a:xfrm>
            <a:off x="302768" y="188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1학기 로드맵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8F3DC1-C7D4-7756-FA89-F9A34DED7D75}"/>
              </a:ext>
            </a:extLst>
          </p:cNvPr>
          <p:cNvSpPr/>
          <p:nvPr/>
        </p:nvSpPr>
        <p:spPr>
          <a:xfrm>
            <a:off x="3247136" y="289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6B77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OpenSeesPy 학습·모델링과 가상환경 생성 병행</a:t>
            </a:r>
            <a:endParaRPr lang="en-US" sz="15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C05ECE6-BA26-F2F7-CCB0-6D7A453163ED}"/>
              </a:ext>
            </a:extLst>
          </p:cNvPr>
          <p:cNvSpPr/>
          <p:nvPr/>
        </p:nvSpPr>
        <p:spPr>
          <a:xfrm>
            <a:off x="201168" y="1847088"/>
            <a:ext cx="5321808" cy="347472"/>
          </a:xfrm>
          <a:prstGeom prst="roundRect">
            <a:avLst>
              <a:gd name="adj" fmla="val 21053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3D6D71E-C644-8CA1-6613-932023D8C0C7}"/>
              </a:ext>
            </a:extLst>
          </p:cNvPr>
          <p:cNvSpPr/>
          <p:nvPr/>
        </p:nvSpPr>
        <p:spPr>
          <a:xfrm>
            <a:off x="5687568" y="1847088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AC1C804-A892-D46A-5520-29F623B42863}"/>
              </a:ext>
            </a:extLst>
          </p:cNvPr>
          <p:cNvSpPr/>
          <p:nvPr/>
        </p:nvSpPr>
        <p:spPr>
          <a:xfrm>
            <a:off x="6492240" y="1847088"/>
            <a:ext cx="5468112" cy="347472"/>
          </a:xfrm>
          <a:prstGeom prst="roundRect">
            <a:avLst>
              <a:gd name="adj" fmla="val 21053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9D34EAD-2EFD-C7BE-3F41-8B0B92F34049}"/>
              </a:ext>
            </a:extLst>
          </p:cNvPr>
          <p:cNvSpPr/>
          <p:nvPr/>
        </p:nvSpPr>
        <p:spPr>
          <a:xfrm>
            <a:off x="384048" y="19263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OpenSeesPy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A05395-E73F-768C-28E3-AC41929680F8}"/>
              </a:ext>
            </a:extLst>
          </p:cNvPr>
          <p:cNvSpPr/>
          <p:nvPr/>
        </p:nvSpPr>
        <p:spPr>
          <a:xfrm>
            <a:off x="5769864" y="1924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78D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동시 진행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267C435-1A81-FB39-40A1-CA7093701114}"/>
              </a:ext>
            </a:extLst>
          </p:cNvPr>
          <p:cNvSpPr/>
          <p:nvPr/>
        </p:nvSpPr>
        <p:spPr>
          <a:xfrm>
            <a:off x="6675120" y="1916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 생성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C4FE62B-7AEF-26ED-8678-B34A490B684B}"/>
              </a:ext>
            </a:extLst>
          </p:cNvPr>
          <p:cNvSpPr/>
          <p:nvPr/>
        </p:nvSpPr>
        <p:spPr>
          <a:xfrm>
            <a:off x="310896" y="2331720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0ECF1F0-DEB3-A031-AE20-6A13A53CBB2F}"/>
              </a:ext>
            </a:extLst>
          </p:cNvPr>
          <p:cNvSpPr/>
          <p:nvPr/>
        </p:nvSpPr>
        <p:spPr>
          <a:xfrm>
            <a:off x="310896" y="23418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10주차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05831E5-4364-3ED1-5E7F-9ACAEE14244F}"/>
              </a:ext>
            </a:extLst>
          </p:cNvPr>
          <p:cNvSpPr/>
          <p:nvPr/>
        </p:nvSpPr>
        <p:spPr>
          <a:xfrm>
            <a:off x="1278128" y="23576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Output Commands </a:t>
            </a:r>
            <a:r>
              <a:rPr lang="ko-KR" alt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기초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응답 추출 구조 이해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A8D9F73-04DF-CE2E-E663-19204F978BB4}"/>
              </a:ext>
            </a:extLst>
          </p:cNvPr>
          <p:cNvSpPr/>
          <p:nvPr/>
        </p:nvSpPr>
        <p:spPr>
          <a:xfrm>
            <a:off x="384048" y="259689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50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recorder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·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nodeDisp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·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nodeAccel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등의 개념 학습 및 기본 출력 구성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6FF35CF-FEA2-756F-17B3-7378CB614840}"/>
              </a:ext>
            </a:extLst>
          </p:cNvPr>
          <p:cNvSpPr/>
          <p:nvPr/>
        </p:nvSpPr>
        <p:spPr>
          <a:xfrm>
            <a:off x="5769864" y="2354072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C6D178B-5D2B-2B93-2AE4-1AA189EC4206}"/>
              </a:ext>
            </a:extLst>
          </p:cNvPr>
          <p:cNvSpPr/>
          <p:nvPr/>
        </p:nvSpPr>
        <p:spPr>
          <a:xfrm>
            <a:off x="5769864" y="23540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4F92911-04F0-1A49-07B4-6692AE8A08A8}"/>
              </a:ext>
            </a:extLst>
          </p:cNvPr>
          <p:cNvSpPr/>
          <p:nvPr/>
        </p:nvSpPr>
        <p:spPr>
          <a:xfrm>
            <a:off x="310896" y="2935224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046F8D7-6B73-80E9-6E18-9529A1BCDA3F}"/>
              </a:ext>
            </a:extLst>
          </p:cNvPr>
          <p:cNvSpPr/>
          <p:nvPr/>
        </p:nvSpPr>
        <p:spPr>
          <a:xfrm>
            <a:off x="310896" y="2955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11주차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87D00BE-0764-4E04-21F9-41777C771AD9}"/>
              </a:ext>
            </a:extLst>
          </p:cNvPr>
          <p:cNvSpPr/>
          <p:nvPr/>
        </p:nvSpPr>
        <p:spPr>
          <a:xfrm>
            <a:off x="1280160" y="2959185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Utility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FSI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Commands 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5507CA3-B675-CA7B-0D37-F2F0F7229A05}"/>
              </a:ext>
            </a:extLst>
          </p:cNvPr>
          <p:cNvSpPr/>
          <p:nvPr/>
        </p:nvSpPr>
        <p:spPr>
          <a:xfrm>
            <a:off x="390144" y="323697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정보를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조회하는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커맨드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학습과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유체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-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 상호작용을 위한 커맨드 학습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.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B7F7BD2-5EDC-9E37-20EA-B907E2A5158C}"/>
              </a:ext>
            </a:extLst>
          </p:cNvPr>
          <p:cNvSpPr/>
          <p:nvPr/>
        </p:nvSpPr>
        <p:spPr>
          <a:xfrm>
            <a:off x="5769864" y="2999232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EC1F10C-0B35-00E9-2FFF-D02932146848}"/>
              </a:ext>
            </a:extLst>
          </p:cNvPr>
          <p:cNvSpPr/>
          <p:nvPr/>
        </p:nvSpPr>
        <p:spPr>
          <a:xfrm>
            <a:off x="5769864" y="299923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6839E88-A2EC-55D6-FA26-ECB677B99540}"/>
              </a:ext>
            </a:extLst>
          </p:cNvPr>
          <p:cNvSpPr/>
          <p:nvPr/>
        </p:nvSpPr>
        <p:spPr>
          <a:xfrm>
            <a:off x="310896" y="3569208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1B63CC4-1445-2808-9D05-FD0A9EC6C80C}"/>
              </a:ext>
            </a:extLst>
          </p:cNvPr>
          <p:cNvSpPr/>
          <p:nvPr/>
        </p:nvSpPr>
        <p:spPr>
          <a:xfrm>
            <a:off x="310896" y="35895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12주차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7FB6FC6-5BF1-691F-7719-623390080613}"/>
              </a:ext>
            </a:extLst>
          </p:cNvPr>
          <p:cNvSpPr/>
          <p:nvPr/>
        </p:nvSpPr>
        <p:spPr>
          <a:xfrm>
            <a:off x="1270000" y="423141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Parallel Commands 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BE6D233-4665-9E4F-78DB-AB6088A09D56}"/>
              </a:ext>
            </a:extLst>
          </p:cNvPr>
          <p:cNvSpPr/>
          <p:nvPr/>
        </p:nvSpPr>
        <p:spPr>
          <a:xfrm>
            <a:off x="379984" y="387705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5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설계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변수에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따른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응답의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민감도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신뢰도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분석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커맨드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 결과의 접근법 기초 학습</a:t>
            </a:r>
            <a:endParaRPr lang="en-US" altLang="ko-KR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251A31E-B19C-20B7-4D6D-F7D19A9DAB0C}"/>
              </a:ext>
            </a:extLst>
          </p:cNvPr>
          <p:cNvSpPr/>
          <p:nvPr/>
        </p:nvSpPr>
        <p:spPr>
          <a:xfrm>
            <a:off x="5769864" y="3652520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DECE1AC-D67A-9E32-693C-10B4747AA369}"/>
              </a:ext>
            </a:extLst>
          </p:cNvPr>
          <p:cNvSpPr/>
          <p:nvPr/>
        </p:nvSpPr>
        <p:spPr>
          <a:xfrm>
            <a:off x="5769864" y="365252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74516AD-E752-847C-788A-14BA07D37A50}"/>
              </a:ext>
            </a:extLst>
          </p:cNvPr>
          <p:cNvSpPr/>
          <p:nvPr/>
        </p:nvSpPr>
        <p:spPr>
          <a:xfrm>
            <a:off x="310896" y="4211575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1B8B53F-3892-D708-5001-69198D210AB9}"/>
              </a:ext>
            </a:extLst>
          </p:cNvPr>
          <p:cNvSpPr/>
          <p:nvPr/>
        </p:nvSpPr>
        <p:spPr>
          <a:xfrm>
            <a:off x="310896" y="42235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13주차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235AA44C-A15D-B48D-32AF-8B7E581C1D4A}"/>
              </a:ext>
            </a:extLst>
          </p:cNvPr>
          <p:cNvSpPr/>
          <p:nvPr/>
        </p:nvSpPr>
        <p:spPr>
          <a:xfrm>
            <a:off x="1259840" y="4876151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Preprocessing Commands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BB9D6900-672A-D181-D821-60FE7FB0DF7A}"/>
              </a:ext>
            </a:extLst>
          </p:cNvPr>
          <p:cNvSpPr/>
          <p:nvPr/>
        </p:nvSpPr>
        <p:spPr>
          <a:xfrm>
            <a:off x="400304" y="451713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5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대규모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해석을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위한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병렬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연산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명령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4D28B691-C107-5BC4-E629-F05271181897}"/>
              </a:ext>
            </a:extLst>
          </p:cNvPr>
          <p:cNvSpPr/>
          <p:nvPr/>
        </p:nvSpPr>
        <p:spPr>
          <a:xfrm>
            <a:off x="5769864" y="4256024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008DCD88-D8C6-CC39-2262-F2F95A3E9529}"/>
              </a:ext>
            </a:extLst>
          </p:cNvPr>
          <p:cNvSpPr/>
          <p:nvPr/>
        </p:nvSpPr>
        <p:spPr>
          <a:xfrm>
            <a:off x="5769864" y="42560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3FBEDBB3-249D-C67C-604B-2F400B564BFD}"/>
              </a:ext>
            </a:extLst>
          </p:cNvPr>
          <p:cNvSpPr/>
          <p:nvPr/>
        </p:nvSpPr>
        <p:spPr>
          <a:xfrm>
            <a:off x="310896" y="4847336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6757F5D6-4B5D-92FC-1D7B-A810339F0EB9}"/>
              </a:ext>
            </a:extLst>
          </p:cNvPr>
          <p:cNvSpPr/>
          <p:nvPr/>
        </p:nvSpPr>
        <p:spPr>
          <a:xfrm>
            <a:off x="310896" y="48574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14주차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FADFF9A0-C59C-EFA5-FB11-777C0E2E20CD}"/>
              </a:ext>
            </a:extLst>
          </p:cNvPr>
          <p:cNvSpPr/>
          <p:nvPr/>
        </p:nvSpPr>
        <p:spPr>
          <a:xfrm>
            <a:off x="1280160" y="55107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Postprocessing Modules</a:t>
            </a:r>
            <a:endParaRPr lang="en-US" altLang="ko-KR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47512C06-B2D0-8DFA-EFE8-B878A0A3C345}"/>
              </a:ext>
            </a:extLst>
          </p:cNvPr>
          <p:cNvSpPr/>
          <p:nvPr/>
        </p:nvSpPr>
        <p:spPr>
          <a:xfrm>
            <a:off x="420624" y="515721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5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전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단계에서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모델을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구성하고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정의하는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라이브러리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파이썬 기반의 </a:t>
            </a:r>
            <a:r>
              <a:rPr lang="ko-KR" alt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전처리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작업 학습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1F69F8D6-80FD-595E-6DD2-73332BBF062A}"/>
              </a:ext>
            </a:extLst>
          </p:cNvPr>
          <p:cNvSpPr/>
          <p:nvPr/>
        </p:nvSpPr>
        <p:spPr>
          <a:xfrm>
            <a:off x="5769864" y="4910328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FB4618B9-E4E5-E66D-0B52-4B6E6DC76B62}"/>
              </a:ext>
            </a:extLst>
          </p:cNvPr>
          <p:cNvSpPr/>
          <p:nvPr/>
        </p:nvSpPr>
        <p:spPr>
          <a:xfrm>
            <a:off x="5769864" y="49103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16569A22-3F83-7D65-E6C4-12EA2E43819C}"/>
              </a:ext>
            </a:extLst>
          </p:cNvPr>
          <p:cNvSpPr/>
          <p:nvPr/>
        </p:nvSpPr>
        <p:spPr>
          <a:xfrm>
            <a:off x="310896" y="54782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C161237D-2BB7-747B-CFF2-2013376A4C71}"/>
              </a:ext>
            </a:extLst>
          </p:cNvPr>
          <p:cNvSpPr/>
          <p:nvPr/>
        </p:nvSpPr>
        <p:spPr>
          <a:xfrm>
            <a:off x="310896" y="54914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A3E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15주차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0D7994B5-3264-1F7C-7AD8-AC55B9F07343}"/>
              </a:ext>
            </a:extLst>
          </p:cNvPr>
          <p:cNvSpPr/>
          <p:nvPr/>
        </p:nvSpPr>
        <p:spPr>
          <a:xfrm>
            <a:off x="1257808" y="3602793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Sensitivity &amp; Reliability Commands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학습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FAD4CA37-D9C1-A029-77C9-7D5DED40B076}"/>
              </a:ext>
            </a:extLst>
          </p:cNvPr>
          <p:cNvSpPr/>
          <p:nvPr/>
        </p:nvSpPr>
        <p:spPr>
          <a:xfrm>
            <a:off x="420624" y="579729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50" b="1" dirty="0">
                <a:solidFill>
                  <a:srgbClr val="A4B4CC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시각화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모듈을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활용한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결과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출력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이번 프로젝트의 결과 출력 방식 설계 </a:t>
            </a:r>
            <a:endParaRPr lang="en-US" altLang="ko-KR" sz="1050" dirty="0">
              <a:solidFill>
                <a:srgbClr val="62718A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Malgun Gothic" pitchFamily="34" charset="-120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8FA0497F-47F9-6526-716F-F5493B4DBF4E}"/>
              </a:ext>
            </a:extLst>
          </p:cNvPr>
          <p:cNvSpPr/>
          <p:nvPr/>
        </p:nvSpPr>
        <p:spPr>
          <a:xfrm>
            <a:off x="5769864" y="5534152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77B33A3B-0CE8-1924-AB31-C2F3D043736A}"/>
              </a:ext>
            </a:extLst>
          </p:cNvPr>
          <p:cNvSpPr/>
          <p:nvPr/>
        </p:nvSpPr>
        <p:spPr>
          <a:xfrm>
            <a:off x="5769864" y="55341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A3E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C48E78B1-B1F7-0B00-04F0-D48E795AEE1C}"/>
              </a:ext>
            </a:extLst>
          </p:cNvPr>
          <p:cNvSpPr/>
          <p:nvPr/>
        </p:nvSpPr>
        <p:spPr>
          <a:xfrm>
            <a:off x="310896" y="6125801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EAE2FB"/>
          </a:solidFill>
          <a:ln w="12700">
            <a:solidFill>
              <a:srgbClr val="EAE2FB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5837697-EAAE-6953-AF0D-2ADBD509209B}"/>
              </a:ext>
            </a:extLst>
          </p:cNvPr>
          <p:cNvSpPr/>
          <p:nvPr/>
        </p:nvSpPr>
        <p:spPr>
          <a:xfrm>
            <a:off x="310896" y="61356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16주차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337F282-DCE6-2C2F-A1C4-E40242D52972}"/>
              </a:ext>
            </a:extLst>
          </p:cNvPr>
          <p:cNvSpPr/>
          <p:nvPr/>
        </p:nvSpPr>
        <p:spPr>
          <a:xfrm>
            <a:off x="1239520" y="61498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부족한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파트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추가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학습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및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간단한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예제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설계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266FFFD5-41CC-D47B-1562-C63F0D6CB136}"/>
              </a:ext>
            </a:extLst>
          </p:cNvPr>
          <p:cNvSpPr/>
          <p:nvPr/>
        </p:nvSpPr>
        <p:spPr>
          <a:xfrm>
            <a:off x="420624" y="6446182"/>
            <a:ext cx="5035296" cy="10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학습이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부족했다고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생각하는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파트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추가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학습한 커맨드 기반으로 간단한 예제 작성해보기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BE789FE3-59B4-945E-289F-75CAAF4C6F65}"/>
              </a:ext>
            </a:extLst>
          </p:cNvPr>
          <p:cNvSpPr/>
          <p:nvPr/>
        </p:nvSpPr>
        <p:spPr>
          <a:xfrm>
            <a:off x="5769864" y="6157976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F2CD10D0-B637-DDAE-7D77-0F0345E0B81C}"/>
              </a:ext>
            </a:extLst>
          </p:cNvPr>
          <p:cNvSpPr/>
          <p:nvPr/>
        </p:nvSpPr>
        <p:spPr>
          <a:xfrm>
            <a:off x="5769864" y="61579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↔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6" name="Shape 13">
            <a:extLst>
              <a:ext uri="{FF2B5EF4-FFF2-40B4-BE49-F238E27FC236}">
                <a16:creationId xmlns:a16="http://schemas.microsoft.com/office/drawing/2014/main" id="{7A67F1C9-E06B-5A5B-27EC-F44FA1165731}"/>
              </a:ext>
            </a:extLst>
          </p:cNvPr>
          <p:cNvSpPr/>
          <p:nvPr/>
        </p:nvSpPr>
        <p:spPr>
          <a:xfrm>
            <a:off x="6551550" y="2240280"/>
            <a:ext cx="5329554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4" name="Shape 13">
            <a:extLst>
              <a:ext uri="{FF2B5EF4-FFF2-40B4-BE49-F238E27FC236}">
                <a16:creationId xmlns:a16="http://schemas.microsoft.com/office/drawing/2014/main" id="{52288D8A-C892-C1E2-2F6C-AC2B10611482}"/>
              </a:ext>
            </a:extLst>
          </p:cNvPr>
          <p:cNvSpPr/>
          <p:nvPr/>
        </p:nvSpPr>
        <p:spPr>
          <a:xfrm>
            <a:off x="6551550" y="2873643"/>
            <a:ext cx="5329554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5" name="Shape 13">
            <a:extLst>
              <a:ext uri="{FF2B5EF4-FFF2-40B4-BE49-F238E27FC236}">
                <a16:creationId xmlns:a16="http://schemas.microsoft.com/office/drawing/2014/main" id="{8C5D9680-CBF7-EF66-926D-772D98D5671A}"/>
              </a:ext>
            </a:extLst>
          </p:cNvPr>
          <p:cNvSpPr/>
          <p:nvPr/>
        </p:nvSpPr>
        <p:spPr>
          <a:xfrm>
            <a:off x="6551550" y="3507006"/>
            <a:ext cx="5329554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6" name="Shape 13">
            <a:extLst>
              <a:ext uri="{FF2B5EF4-FFF2-40B4-BE49-F238E27FC236}">
                <a16:creationId xmlns:a16="http://schemas.microsoft.com/office/drawing/2014/main" id="{6B804310-AE02-7884-8BB8-6419B43B288E}"/>
              </a:ext>
            </a:extLst>
          </p:cNvPr>
          <p:cNvSpPr/>
          <p:nvPr/>
        </p:nvSpPr>
        <p:spPr>
          <a:xfrm>
            <a:off x="6521070" y="4140369"/>
            <a:ext cx="5360034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7" name="Shape 13">
            <a:extLst>
              <a:ext uri="{FF2B5EF4-FFF2-40B4-BE49-F238E27FC236}">
                <a16:creationId xmlns:a16="http://schemas.microsoft.com/office/drawing/2014/main" id="{CA1F0EC9-934A-37F4-B8B9-107833263CB5}"/>
              </a:ext>
            </a:extLst>
          </p:cNvPr>
          <p:cNvSpPr/>
          <p:nvPr/>
        </p:nvSpPr>
        <p:spPr>
          <a:xfrm>
            <a:off x="6521070" y="4773732"/>
            <a:ext cx="5360034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8" name="Shape 13">
            <a:extLst>
              <a:ext uri="{FF2B5EF4-FFF2-40B4-BE49-F238E27FC236}">
                <a16:creationId xmlns:a16="http://schemas.microsoft.com/office/drawing/2014/main" id="{0B19B2AC-1229-EC1A-C414-3B72D615AF9B}"/>
              </a:ext>
            </a:extLst>
          </p:cNvPr>
          <p:cNvSpPr/>
          <p:nvPr/>
        </p:nvSpPr>
        <p:spPr>
          <a:xfrm>
            <a:off x="6521070" y="5407095"/>
            <a:ext cx="5360034" cy="57302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9" name="Shape 13">
            <a:extLst>
              <a:ext uri="{FF2B5EF4-FFF2-40B4-BE49-F238E27FC236}">
                <a16:creationId xmlns:a16="http://schemas.microsoft.com/office/drawing/2014/main" id="{E5EF3D72-5556-B73A-3E69-4F682F161CC5}"/>
              </a:ext>
            </a:extLst>
          </p:cNvPr>
          <p:cNvSpPr/>
          <p:nvPr/>
        </p:nvSpPr>
        <p:spPr>
          <a:xfrm>
            <a:off x="6521070" y="6040457"/>
            <a:ext cx="5360034" cy="61874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0" name="Shape 15">
            <a:extLst>
              <a:ext uri="{FF2B5EF4-FFF2-40B4-BE49-F238E27FC236}">
                <a16:creationId xmlns:a16="http://schemas.microsoft.com/office/drawing/2014/main" id="{A57A8F3E-7776-BB60-12F1-6D72EC8FE6EC}"/>
              </a:ext>
            </a:extLst>
          </p:cNvPr>
          <p:cNvSpPr/>
          <p:nvPr/>
        </p:nvSpPr>
        <p:spPr>
          <a:xfrm>
            <a:off x="6630798" y="2331720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1" name="Text 17">
            <a:extLst>
              <a:ext uri="{FF2B5EF4-FFF2-40B4-BE49-F238E27FC236}">
                <a16:creationId xmlns:a16="http://schemas.microsoft.com/office/drawing/2014/main" id="{084E8EA4-A49D-7D53-366B-341511C42C7F}"/>
              </a:ext>
            </a:extLst>
          </p:cNvPr>
          <p:cNvSpPr/>
          <p:nvPr/>
        </p:nvSpPr>
        <p:spPr>
          <a:xfrm>
            <a:off x="6630798" y="23418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10주차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2" name="Text 19">
            <a:extLst>
              <a:ext uri="{FF2B5EF4-FFF2-40B4-BE49-F238E27FC236}">
                <a16:creationId xmlns:a16="http://schemas.microsoft.com/office/drawing/2014/main" id="{83EB8666-7FD2-FCC1-55FE-2CFF18C60F8B}"/>
              </a:ext>
            </a:extLst>
          </p:cNvPr>
          <p:cNvSpPr/>
          <p:nvPr/>
        </p:nvSpPr>
        <p:spPr>
          <a:xfrm>
            <a:off x="7598030" y="23576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데이터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가공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변환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3" name="Text 20">
            <a:extLst>
              <a:ext uri="{FF2B5EF4-FFF2-40B4-BE49-F238E27FC236}">
                <a16:creationId xmlns:a16="http://schemas.microsoft.com/office/drawing/2014/main" id="{5F1BE576-8C8F-7EB1-A186-D6A8A384ECA5}"/>
              </a:ext>
            </a:extLst>
          </p:cNvPr>
          <p:cNvSpPr/>
          <p:nvPr/>
        </p:nvSpPr>
        <p:spPr>
          <a:xfrm>
            <a:off x="6703950" y="2597912"/>
            <a:ext cx="4917440" cy="11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지구와 화성 지반의 좌표 및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데이터 </a:t>
            </a:r>
            <a:r>
              <a:rPr lang="ko-KR" alt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전처리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포인트 클라우드 형태로 변환하여 데이터셋 구축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4" name="Shape 27">
            <a:extLst>
              <a:ext uri="{FF2B5EF4-FFF2-40B4-BE49-F238E27FC236}">
                <a16:creationId xmlns:a16="http://schemas.microsoft.com/office/drawing/2014/main" id="{A4F9C586-8A63-2A20-2BF7-BAD2D937F16B}"/>
              </a:ext>
            </a:extLst>
          </p:cNvPr>
          <p:cNvSpPr/>
          <p:nvPr/>
        </p:nvSpPr>
        <p:spPr>
          <a:xfrm>
            <a:off x="6630798" y="2935224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5" name="Text 29">
            <a:extLst>
              <a:ext uri="{FF2B5EF4-FFF2-40B4-BE49-F238E27FC236}">
                <a16:creationId xmlns:a16="http://schemas.microsoft.com/office/drawing/2014/main" id="{221E6400-71C8-6D0B-8B3D-DCE006F22DB4}"/>
              </a:ext>
            </a:extLst>
          </p:cNvPr>
          <p:cNvSpPr/>
          <p:nvPr/>
        </p:nvSpPr>
        <p:spPr>
          <a:xfrm>
            <a:off x="6630798" y="2955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11주차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6" name="Text 31">
            <a:extLst>
              <a:ext uri="{FF2B5EF4-FFF2-40B4-BE49-F238E27FC236}">
                <a16:creationId xmlns:a16="http://schemas.microsoft.com/office/drawing/2014/main" id="{96AF5431-B301-3415-6282-2B8B9B134C84}"/>
              </a:ext>
            </a:extLst>
          </p:cNvPr>
          <p:cNvSpPr/>
          <p:nvPr/>
        </p:nvSpPr>
        <p:spPr>
          <a:xfrm>
            <a:off x="7600062" y="2959185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모델링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7" name="Text 32">
            <a:extLst>
              <a:ext uri="{FF2B5EF4-FFF2-40B4-BE49-F238E27FC236}">
                <a16:creationId xmlns:a16="http://schemas.microsoft.com/office/drawing/2014/main" id="{9A3C15B7-B0BA-C56A-2CDD-A87E378B43EE}"/>
              </a:ext>
            </a:extLst>
          </p:cNvPr>
          <p:cNvSpPr/>
          <p:nvPr/>
        </p:nvSpPr>
        <p:spPr>
          <a:xfrm>
            <a:off x="6710046" y="3259554"/>
            <a:ext cx="5065776" cy="87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전처리한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데이터를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OpenSeesPy의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Node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좌표와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연동ㅡ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3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차원 지반 형상 구현 및 시각화 출력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8" name="Shape 39">
            <a:extLst>
              <a:ext uri="{FF2B5EF4-FFF2-40B4-BE49-F238E27FC236}">
                <a16:creationId xmlns:a16="http://schemas.microsoft.com/office/drawing/2014/main" id="{CCF758EE-324E-CB32-2588-03B80E5E8117}"/>
              </a:ext>
            </a:extLst>
          </p:cNvPr>
          <p:cNvSpPr/>
          <p:nvPr/>
        </p:nvSpPr>
        <p:spPr>
          <a:xfrm>
            <a:off x="6630798" y="3569208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F5E7CC"/>
          </a:solidFill>
          <a:ln w="12700">
            <a:solidFill>
              <a:srgbClr val="F5E7CC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9" name="Text 41">
            <a:extLst>
              <a:ext uri="{FF2B5EF4-FFF2-40B4-BE49-F238E27FC236}">
                <a16:creationId xmlns:a16="http://schemas.microsoft.com/office/drawing/2014/main" id="{254528CB-1DFF-6C18-FA39-724DB9AB31EF}"/>
              </a:ext>
            </a:extLst>
          </p:cNvPr>
          <p:cNvSpPr/>
          <p:nvPr/>
        </p:nvSpPr>
        <p:spPr>
          <a:xfrm>
            <a:off x="6630798" y="35895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12주차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0" name="Text 43">
            <a:extLst>
              <a:ext uri="{FF2B5EF4-FFF2-40B4-BE49-F238E27FC236}">
                <a16:creationId xmlns:a16="http://schemas.microsoft.com/office/drawing/2014/main" id="{8E02C453-28BA-155C-E9EE-64F068D00DCF}"/>
              </a:ext>
            </a:extLst>
          </p:cNvPr>
          <p:cNvSpPr/>
          <p:nvPr/>
        </p:nvSpPr>
        <p:spPr>
          <a:xfrm>
            <a:off x="7589902" y="360036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 상세 모델링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1" name="Text 44">
            <a:extLst>
              <a:ext uri="{FF2B5EF4-FFF2-40B4-BE49-F238E27FC236}">
                <a16:creationId xmlns:a16="http://schemas.microsoft.com/office/drawing/2014/main" id="{FC0A464E-4BA3-0A98-0C44-ABC233679CA5}"/>
              </a:ext>
            </a:extLst>
          </p:cNvPr>
          <p:cNvSpPr/>
          <p:nvPr/>
        </p:nvSpPr>
        <p:spPr>
          <a:xfrm>
            <a:off x="6699886" y="3858768"/>
            <a:ext cx="5260466" cy="16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0A43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가상환경에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배치될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모델링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카티아에서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추출한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노드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데이터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OpenSeesPy에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입력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속성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정의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2" name="Shape 51">
            <a:extLst>
              <a:ext uri="{FF2B5EF4-FFF2-40B4-BE49-F238E27FC236}">
                <a16:creationId xmlns:a16="http://schemas.microsoft.com/office/drawing/2014/main" id="{0C1E5362-41C3-FB67-9215-FD7E254E5AEA}"/>
              </a:ext>
            </a:extLst>
          </p:cNvPr>
          <p:cNvSpPr/>
          <p:nvPr/>
        </p:nvSpPr>
        <p:spPr>
          <a:xfrm>
            <a:off x="6630798" y="4211575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7492C5E3-8AD3-1C56-4D5A-E691E2A92E27}"/>
              </a:ext>
            </a:extLst>
          </p:cNvPr>
          <p:cNvSpPr/>
          <p:nvPr/>
        </p:nvSpPr>
        <p:spPr>
          <a:xfrm>
            <a:off x="6630798" y="42235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13주차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4" name="Text 55">
            <a:extLst>
              <a:ext uri="{FF2B5EF4-FFF2-40B4-BE49-F238E27FC236}">
                <a16:creationId xmlns:a16="http://schemas.microsoft.com/office/drawing/2014/main" id="{5531D715-CF0E-C9E3-7908-B4F6D367C94F}"/>
              </a:ext>
            </a:extLst>
          </p:cNvPr>
          <p:cNvSpPr/>
          <p:nvPr/>
        </p:nvSpPr>
        <p:spPr>
          <a:xfrm>
            <a:off x="7579742" y="4235959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-</a:t>
            </a:r>
            <a:r>
              <a:rPr lang="ko-KR" alt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 상호작용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(SSI)</a:t>
            </a:r>
            <a:r>
              <a:rPr lang="ko-KR" alt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인터페이스 구현</a:t>
            </a:r>
            <a:r>
              <a:rPr lang="en-US" altLang="ko-KR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)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5" name="Text 56">
            <a:extLst>
              <a:ext uri="{FF2B5EF4-FFF2-40B4-BE49-F238E27FC236}">
                <a16:creationId xmlns:a16="http://schemas.microsoft.com/office/drawing/2014/main" id="{F4AF9D00-A84D-82C4-A91B-94C52F27B860}"/>
              </a:ext>
            </a:extLst>
          </p:cNvPr>
          <p:cNvSpPr/>
          <p:nvPr/>
        </p:nvSpPr>
        <p:spPr>
          <a:xfrm>
            <a:off x="6720206" y="451713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구조물과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노드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결합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두 모델 사이의 경계조건과 연결 요소 설정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6" name="Shape 63">
            <a:extLst>
              <a:ext uri="{FF2B5EF4-FFF2-40B4-BE49-F238E27FC236}">
                <a16:creationId xmlns:a16="http://schemas.microsoft.com/office/drawing/2014/main" id="{EAC6FE49-8102-C7C4-E3C0-AF29404DCC99}"/>
              </a:ext>
            </a:extLst>
          </p:cNvPr>
          <p:cNvSpPr/>
          <p:nvPr/>
        </p:nvSpPr>
        <p:spPr>
          <a:xfrm>
            <a:off x="6630798" y="4847336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7" name="Text 65">
            <a:extLst>
              <a:ext uri="{FF2B5EF4-FFF2-40B4-BE49-F238E27FC236}">
                <a16:creationId xmlns:a16="http://schemas.microsoft.com/office/drawing/2014/main" id="{5A5A084F-0A5D-F451-81BE-0294F773B5ED}"/>
              </a:ext>
            </a:extLst>
          </p:cNvPr>
          <p:cNvSpPr/>
          <p:nvPr/>
        </p:nvSpPr>
        <p:spPr>
          <a:xfrm>
            <a:off x="6630798" y="48574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14주차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8" name="Text 67">
            <a:extLst>
              <a:ext uri="{FF2B5EF4-FFF2-40B4-BE49-F238E27FC236}">
                <a16:creationId xmlns:a16="http://schemas.microsoft.com/office/drawing/2014/main" id="{A3A2EB28-3DBC-0BE1-D77F-AA99A828631B}"/>
              </a:ext>
            </a:extLst>
          </p:cNvPr>
          <p:cNvSpPr/>
          <p:nvPr/>
        </p:nvSpPr>
        <p:spPr>
          <a:xfrm>
            <a:off x="7600062" y="48705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환경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변수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민감도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병렬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9" name="Text 68">
            <a:extLst>
              <a:ext uri="{FF2B5EF4-FFF2-40B4-BE49-F238E27FC236}">
                <a16:creationId xmlns:a16="http://schemas.microsoft.com/office/drawing/2014/main" id="{D682A937-03ED-45CA-B8BC-284A915A7681}"/>
              </a:ext>
            </a:extLst>
          </p:cNvPr>
          <p:cNvSpPr/>
          <p:nvPr/>
        </p:nvSpPr>
        <p:spPr>
          <a:xfrm>
            <a:off x="6740526" y="5148071"/>
            <a:ext cx="5030850" cy="135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FB17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중력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환경과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강성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변화에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따른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응답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민감도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분석</a:t>
            </a:r>
            <a:r>
              <a:rPr 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altLang="ko-KR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.Parallel</a:t>
            </a:r>
            <a:r>
              <a:rPr lang="en-US" altLang="ko-KR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Commands</a:t>
            </a:r>
            <a:r>
              <a:rPr lang="ko-KR" altLang="en-US" sz="100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를</a:t>
            </a:r>
            <a:r>
              <a:rPr lang="ko-KR" altLang="en-US" sz="100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활용한 해석 효율화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0" name="Shape 75">
            <a:extLst>
              <a:ext uri="{FF2B5EF4-FFF2-40B4-BE49-F238E27FC236}">
                <a16:creationId xmlns:a16="http://schemas.microsoft.com/office/drawing/2014/main" id="{AA464D3C-5357-8A30-7F59-B1B061259641}"/>
              </a:ext>
            </a:extLst>
          </p:cNvPr>
          <p:cNvSpPr/>
          <p:nvPr/>
        </p:nvSpPr>
        <p:spPr>
          <a:xfrm>
            <a:off x="6630798" y="5478272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1" name="Text 77">
            <a:extLst>
              <a:ext uri="{FF2B5EF4-FFF2-40B4-BE49-F238E27FC236}">
                <a16:creationId xmlns:a16="http://schemas.microsoft.com/office/drawing/2014/main" id="{DB4BEAD2-FA11-B1C5-40C5-9102E0FB46F7}"/>
              </a:ext>
            </a:extLst>
          </p:cNvPr>
          <p:cNvSpPr/>
          <p:nvPr/>
        </p:nvSpPr>
        <p:spPr>
          <a:xfrm>
            <a:off x="6630798" y="54914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A3E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15주차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2" name="Text 79">
            <a:extLst>
              <a:ext uri="{FF2B5EF4-FFF2-40B4-BE49-F238E27FC236}">
                <a16:creationId xmlns:a16="http://schemas.microsoft.com/office/drawing/2014/main" id="{0D9B956C-ECC9-077E-00F1-2590FC680D4B}"/>
              </a:ext>
            </a:extLst>
          </p:cNvPr>
          <p:cNvSpPr/>
          <p:nvPr/>
        </p:nvSpPr>
        <p:spPr>
          <a:xfrm>
            <a:off x="7559422" y="5505113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통합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시각화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및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분석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체계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설정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3" name="Text 80">
            <a:extLst>
              <a:ext uri="{FF2B5EF4-FFF2-40B4-BE49-F238E27FC236}">
                <a16:creationId xmlns:a16="http://schemas.microsoft.com/office/drawing/2014/main" id="{8333092D-87C3-65CB-0003-3B509E45B3FF}"/>
              </a:ext>
            </a:extLst>
          </p:cNvPr>
          <p:cNvSpPr/>
          <p:nvPr/>
        </p:nvSpPr>
        <p:spPr>
          <a:xfrm>
            <a:off x="6740526" y="579729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4B4CC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지반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-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구조물 통합 거동 렌더링 확인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 결과 출력 구조 설계 확정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4" name="Shape 87">
            <a:extLst>
              <a:ext uri="{FF2B5EF4-FFF2-40B4-BE49-F238E27FC236}">
                <a16:creationId xmlns:a16="http://schemas.microsoft.com/office/drawing/2014/main" id="{178F7626-F4A0-54A5-5E99-165EA78D81CE}"/>
              </a:ext>
            </a:extLst>
          </p:cNvPr>
          <p:cNvSpPr/>
          <p:nvPr/>
        </p:nvSpPr>
        <p:spPr>
          <a:xfrm>
            <a:off x="6630798" y="6125801"/>
            <a:ext cx="841248" cy="201168"/>
          </a:xfrm>
          <a:prstGeom prst="roundRect">
            <a:avLst>
              <a:gd name="adj" fmla="val 36364"/>
            </a:avLst>
          </a:prstGeom>
          <a:solidFill>
            <a:srgbClr val="EAE2FB"/>
          </a:solidFill>
          <a:ln w="12700">
            <a:solidFill>
              <a:srgbClr val="EAE2FB"/>
            </a:solidFill>
            <a:prstDash val="solid"/>
          </a:ln>
        </p:spPr>
        <p:txBody>
          <a:bodyPr/>
          <a:lstStyle/>
          <a:p>
            <a:endParaRPr lang="ko-KR" altLang="en-US" sz="14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5" name="Text 89">
            <a:extLst>
              <a:ext uri="{FF2B5EF4-FFF2-40B4-BE49-F238E27FC236}">
                <a16:creationId xmlns:a16="http://schemas.microsoft.com/office/drawing/2014/main" id="{B9620753-76C2-85C9-7F37-74A2D2C3081E}"/>
              </a:ext>
            </a:extLst>
          </p:cNvPr>
          <p:cNvSpPr/>
          <p:nvPr/>
        </p:nvSpPr>
        <p:spPr>
          <a:xfrm>
            <a:off x="6630798" y="61356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16주차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6" name="Text 91">
            <a:extLst>
              <a:ext uri="{FF2B5EF4-FFF2-40B4-BE49-F238E27FC236}">
                <a16:creationId xmlns:a16="http://schemas.microsoft.com/office/drawing/2014/main" id="{F34CBB0C-92C1-70D3-E4D2-3E735E1C91E2}"/>
              </a:ext>
            </a:extLst>
          </p:cNvPr>
          <p:cNvSpPr/>
          <p:nvPr/>
        </p:nvSpPr>
        <p:spPr>
          <a:xfrm>
            <a:off x="7559422" y="61498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가상환경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최종</a:t>
            </a:r>
            <a:r>
              <a:rPr lang="en-US" sz="1400" b="1" dirty="0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F2A44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완료</a:t>
            </a:r>
            <a:endParaRPr lang="en-US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7" name="Text 92">
            <a:extLst>
              <a:ext uri="{FF2B5EF4-FFF2-40B4-BE49-F238E27FC236}">
                <a16:creationId xmlns:a16="http://schemas.microsoft.com/office/drawing/2014/main" id="{F0EFDD70-50F4-3429-B327-80E786AF9E56}"/>
              </a:ext>
            </a:extLst>
          </p:cNvPr>
          <p:cNvSpPr/>
          <p:nvPr/>
        </p:nvSpPr>
        <p:spPr>
          <a:xfrm>
            <a:off x="6740526" y="643737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8F79E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•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통합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모델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동적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해석</a:t>
            </a:r>
            <a:r>
              <a:rPr 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수행</a:t>
            </a:r>
            <a:r>
              <a:rPr lang="en-US" altLang="ko-KR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6271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Malgun Gothic" pitchFamily="34" charset="-120"/>
              </a:rPr>
              <a:t>환경별 거동 차이 수치적으로 비교 분석</a:t>
            </a:r>
            <a:endParaRPr lang="en-US" sz="105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580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14269</TotalTime>
  <Words>1486</Words>
  <Application>Microsoft Macintosh PowerPoint</Application>
  <PresentationFormat>와이드스크린</PresentationFormat>
  <Paragraphs>307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Malgun Gothic</vt:lpstr>
      <vt:lpstr>Apple SD Gothic Neo</vt:lpstr>
      <vt:lpstr>JetBrains Mono</vt:lpstr>
      <vt:lpstr>Noto Sans KR</vt:lpstr>
      <vt:lpstr>Poppins ExtraBold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캡스톤 1학기 로드맵</dc:title>
  <dc:subject>Capstone first semester roadmap</dc:subject>
  <dc:creator>OpenAI</dc:creator>
  <cp:lastModifiedBy>박시은(***2***226)</cp:lastModifiedBy>
  <cp:revision>38</cp:revision>
  <dcterms:created xsi:type="dcterms:W3CDTF">2026-03-28T08:16:37Z</dcterms:created>
  <dcterms:modified xsi:type="dcterms:W3CDTF">2026-05-12T09:04:58Z</dcterms:modified>
</cp:coreProperties>
</file>